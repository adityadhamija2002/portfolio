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Ibarra Real Nova" charset="1" panose="00000500000000000000"/>
      <p:regular r:id="rId21"/>
    </p:embeddedFont>
    <p:embeddedFont>
      <p:font typeface="Ibarra Real Nova Bold" charset="1" panose="00000800000000000000"/>
      <p:regular r:id="rId22"/>
    </p:embeddedFont>
    <p:embeddedFont>
      <p:font typeface="Poppins Bold" charset="1" panose="0000080000000000000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Relationship Id="rId4" Target="../media/image1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Relationship Id="rId4" Target="../media/image17.png" Type="http://schemas.openxmlformats.org/officeDocument/2006/relationships/image"/><Relationship Id="rId5" Target="../media/image1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20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12.png" Type="http://schemas.openxmlformats.org/officeDocument/2006/relationships/image"/><Relationship Id="rId4" Target="../media/image13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22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13.png" Type="http://schemas.openxmlformats.org/officeDocument/2006/relationships/image"/><Relationship Id="rId4" Target="../media/image23.png" Type="http://schemas.openxmlformats.org/officeDocument/2006/relationships/image"/><Relationship Id="rId5" Target="../media/image24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653658" y="0"/>
            <a:ext cx="6634342" cy="10287000"/>
            <a:chOff x="0" y="0"/>
            <a:chExt cx="4703302" cy="72927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03302" cy="7292791"/>
            </a:xfrm>
            <a:custGeom>
              <a:avLst/>
              <a:gdLst/>
              <a:ahLst/>
              <a:cxnLst/>
              <a:rect r="r" b="b" t="t" l="l"/>
              <a:pathLst>
                <a:path h="7292791" w="4703302">
                  <a:moveTo>
                    <a:pt x="0" y="0"/>
                  </a:moveTo>
                  <a:lnTo>
                    <a:pt x="4703302" y="0"/>
                  </a:lnTo>
                  <a:lnTo>
                    <a:pt x="4703302" y="7292791"/>
                  </a:lnTo>
                  <a:lnTo>
                    <a:pt x="0" y="7292791"/>
                  </a:lnTo>
                  <a:close/>
                </a:path>
              </a:pathLst>
            </a:custGeom>
            <a:solidFill>
              <a:srgbClr val="CCBFAD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7259300" y="0"/>
            <a:ext cx="1028700" cy="10287000"/>
            <a:chOff x="0" y="0"/>
            <a:chExt cx="729279" cy="729279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29279" cy="7292791"/>
            </a:xfrm>
            <a:custGeom>
              <a:avLst/>
              <a:gdLst/>
              <a:ahLst/>
              <a:cxnLst/>
              <a:rect r="r" b="b" t="t" l="l"/>
              <a:pathLst>
                <a:path h="7292791" w="729279">
                  <a:moveTo>
                    <a:pt x="0" y="0"/>
                  </a:moveTo>
                  <a:lnTo>
                    <a:pt x="729279" y="0"/>
                  </a:lnTo>
                  <a:lnTo>
                    <a:pt x="729279" y="7292791"/>
                  </a:lnTo>
                  <a:lnTo>
                    <a:pt x="0" y="7292791"/>
                  </a:lnTo>
                  <a:close/>
                </a:path>
              </a:pathLst>
            </a:custGeom>
            <a:solidFill>
              <a:srgbClr val="A67758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7949973" y="1184748"/>
            <a:ext cx="10300088" cy="8229600"/>
            <a:chOff x="0" y="0"/>
            <a:chExt cx="13733451" cy="10972800"/>
          </a:xfrm>
        </p:grpSpPr>
        <p:pic>
          <p:nvPicPr>
            <p:cNvPr name="Picture 7" id="7"/>
            <p:cNvPicPr>
              <a:picLocks noChangeAspect="true"/>
            </p:cNvPicPr>
            <p:nvPr/>
          </p:nvPicPr>
          <p:blipFill>
            <a:blip r:embed="rId2"/>
            <a:srcRect l="4316" t="0" r="4316" b="0"/>
            <a:stretch>
              <a:fillRect/>
            </a:stretch>
          </p:blipFill>
          <p:spPr>
            <a:xfrm flipH="false" flipV="false">
              <a:off x="0" y="0"/>
              <a:ext cx="13733451" cy="10972800"/>
            </a:xfrm>
            <a:prstGeom prst="rect">
              <a:avLst/>
            </a:prstGeom>
          </p:spPr>
        </p:pic>
      </p:grpSp>
      <p:sp>
        <p:nvSpPr>
          <p:cNvPr name="AutoShape 8" id="8"/>
          <p:cNvSpPr/>
          <p:nvPr/>
        </p:nvSpPr>
        <p:spPr>
          <a:xfrm>
            <a:off x="1152892" y="7920446"/>
            <a:ext cx="5682127" cy="0"/>
          </a:xfrm>
          <a:prstGeom prst="line">
            <a:avLst/>
          </a:prstGeom>
          <a:ln cap="flat" w="9525">
            <a:solidFill>
              <a:srgbClr val="2A241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0" y="9258300"/>
            <a:ext cx="7987912" cy="1028700"/>
            <a:chOff x="0" y="0"/>
            <a:chExt cx="5662892" cy="72927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662892" cy="729279"/>
            </a:xfrm>
            <a:custGeom>
              <a:avLst/>
              <a:gdLst/>
              <a:ahLst/>
              <a:cxnLst/>
              <a:rect r="r" b="b" t="t" l="l"/>
              <a:pathLst>
                <a:path h="729279" w="5662892">
                  <a:moveTo>
                    <a:pt x="0" y="0"/>
                  </a:moveTo>
                  <a:lnTo>
                    <a:pt x="5662892" y="0"/>
                  </a:lnTo>
                  <a:lnTo>
                    <a:pt x="5662892" y="729279"/>
                  </a:lnTo>
                  <a:lnTo>
                    <a:pt x="0" y="729279"/>
                  </a:lnTo>
                  <a:close/>
                </a:path>
              </a:pathLst>
            </a:custGeom>
            <a:solidFill>
              <a:srgbClr val="A67758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82641" y="3589441"/>
            <a:ext cx="7641680" cy="41501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09"/>
              </a:lnSpc>
            </a:pPr>
            <a:r>
              <a:rPr lang="en-US" sz="8468" spc="-169">
                <a:solidFill>
                  <a:srgbClr val="A67758"/>
                </a:solidFill>
                <a:latin typeface="Ibarra Real Nova"/>
                <a:ea typeface="Ibarra Real Nova"/>
                <a:cs typeface="Ibarra Real Nova"/>
                <a:sym typeface="Ibarra Real Nova"/>
              </a:rPr>
              <a:t>ANALYSIS</a:t>
            </a:r>
          </a:p>
          <a:p>
            <a:pPr algn="ctr">
              <a:lnSpc>
                <a:spcPts val="11009"/>
              </a:lnSpc>
            </a:pPr>
            <a:r>
              <a:rPr lang="en-US" sz="8468" spc="-169">
                <a:solidFill>
                  <a:srgbClr val="A67758"/>
                </a:solidFill>
                <a:latin typeface="Ibarra Real Nova"/>
                <a:ea typeface="Ibarra Real Nova"/>
                <a:cs typeface="Ibarra Real Nova"/>
                <a:sym typeface="Ibarra Real Nova"/>
              </a:rPr>
              <a:t>OF</a:t>
            </a:r>
          </a:p>
          <a:p>
            <a:pPr algn="ctr">
              <a:lnSpc>
                <a:spcPts val="11009"/>
              </a:lnSpc>
            </a:pPr>
            <a:r>
              <a:rPr lang="en-US" sz="8468" spc="-169">
                <a:solidFill>
                  <a:srgbClr val="A67758"/>
                </a:solidFill>
                <a:latin typeface="Ibarra Real Nova"/>
                <a:ea typeface="Ibarra Real Nova"/>
                <a:cs typeface="Ibarra Real Nova"/>
                <a:sym typeface="Ibarra Real Nova"/>
              </a:rPr>
              <a:t>JCPENNEY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97908" y="9269189"/>
            <a:ext cx="6592096" cy="959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65"/>
              </a:lnSpc>
            </a:pPr>
            <a:r>
              <a:rPr lang="en-US" sz="2761" b="true">
                <a:solidFill>
                  <a:srgbClr val="F6F3EE"/>
                </a:solidFill>
                <a:latin typeface="Ibarra Real Nova Bold"/>
                <a:ea typeface="Ibarra Real Nova Bold"/>
                <a:cs typeface="Ibarra Real Nova Bold"/>
                <a:sym typeface="Ibarra Real Nova Bold"/>
              </a:rPr>
              <a:t>Student ID - 19380096</a:t>
            </a:r>
          </a:p>
          <a:p>
            <a:pPr algn="ctr">
              <a:lnSpc>
                <a:spcPts val="3865"/>
              </a:lnSpc>
            </a:pPr>
            <a:r>
              <a:rPr lang="en-US" sz="2761" b="true">
                <a:solidFill>
                  <a:srgbClr val="F6F3EE"/>
                </a:solidFill>
                <a:latin typeface="Ibarra Real Nova Bold"/>
                <a:ea typeface="Ibarra Real Nova Bold"/>
                <a:cs typeface="Ibarra Real Nova Bold"/>
                <a:sym typeface="Ibarra Real Nova Bold"/>
              </a:rPr>
              <a:t>AISO 7004: Data-Driven Decision Making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258300"/>
            <a:ext cx="18288000" cy="1028700"/>
            <a:chOff x="0" y="0"/>
            <a:chExt cx="11130507" cy="6260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130507" cy="626091"/>
            </a:xfrm>
            <a:custGeom>
              <a:avLst/>
              <a:gdLst/>
              <a:ahLst/>
              <a:cxnLst/>
              <a:rect r="r" b="b" t="t" l="l"/>
              <a:pathLst>
                <a:path h="626091" w="11130507">
                  <a:moveTo>
                    <a:pt x="0" y="0"/>
                  </a:moveTo>
                  <a:lnTo>
                    <a:pt x="11130507" y="0"/>
                  </a:lnTo>
                  <a:lnTo>
                    <a:pt x="11130507" y="626091"/>
                  </a:lnTo>
                  <a:lnTo>
                    <a:pt x="0" y="626091"/>
                  </a:lnTo>
                  <a:close/>
                </a:path>
              </a:pathLst>
            </a:custGeom>
            <a:solidFill>
              <a:srgbClr val="CCBFAD"/>
            </a:solidFill>
          </p:spPr>
        </p:sp>
      </p:grpSp>
      <p:sp>
        <p:nvSpPr>
          <p:cNvPr name="AutoShape 4" id="4"/>
          <p:cNvSpPr/>
          <p:nvPr/>
        </p:nvSpPr>
        <p:spPr>
          <a:xfrm>
            <a:off x="633607" y="2067372"/>
            <a:ext cx="17155386" cy="0"/>
          </a:xfrm>
          <a:prstGeom prst="line">
            <a:avLst/>
          </a:prstGeom>
          <a:ln cap="flat" w="9525">
            <a:solidFill>
              <a:srgbClr val="2A241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633607" y="0"/>
            <a:ext cx="17654393" cy="9016758"/>
            <a:chOff x="0" y="0"/>
            <a:chExt cx="23539191" cy="12022344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14000372" y="0"/>
              <a:ext cx="9538819" cy="10933869"/>
              <a:chOff x="0" y="0"/>
              <a:chExt cx="4354162" cy="4990957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4354162" cy="4990957"/>
              </a:xfrm>
              <a:custGeom>
                <a:avLst/>
                <a:gdLst/>
                <a:ahLst/>
                <a:cxnLst/>
                <a:rect r="r" b="b" t="t" l="l"/>
                <a:pathLst>
                  <a:path h="4990957" w="4354162">
                    <a:moveTo>
                      <a:pt x="0" y="0"/>
                    </a:moveTo>
                    <a:lnTo>
                      <a:pt x="4354162" y="0"/>
                    </a:lnTo>
                    <a:lnTo>
                      <a:pt x="4354162" y="4990957"/>
                    </a:lnTo>
                    <a:lnTo>
                      <a:pt x="0" y="4990957"/>
                    </a:lnTo>
                    <a:close/>
                  </a:path>
                </a:pathLst>
              </a:custGeom>
              <a:solidFill>
                <a:srgbClr val="F6F3EE"/>
              </a:solidFill>
            </p:spPr>
          </p:sp>
        </p:grpSp>
        <p:sp>
          <p:nvSpPr>
            <p:cNvPr name="Freeform 8" id="8"/>
            <p:cNvSpPr/>
            <p:nvPr/>
          </p:nvSpPr>
          <p:spPr>
            <a:xfrm flipH="false" flipV="false" rot="0">
              <a:off x="173646" y="3293109"/>
              <a:ext cx="6267678" cy="4347650"/>
            </a:xfrm>
            <a:custGeom>
              <a:avLst/>
              <a:gdLst/>
              <a:ahLst/>
              <a:cxnLst/>
              <a:rect r="r" b="b" t="t" l="l"/>
              <a:pathLst>
                <a:path h="4347650" w="6267678">
                  <a:moveTo>
                    <a:pt x="0" y="0"/>
                  </a:moveTo>
                  <a:lnTo>
                    <a:pt x="6267678" y="0"/>
                  </a:lnTo>
                  <a:lnTo>
                    <a:pt x="6267678" y="4347650"/>
                  </a:lnTo>
                  <a:lnTo>
                    <a:pt x="0" y="4347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6929928" y="7130294"/>
              <a:ext cx="7070444" cy="4892050"/>
            </a:xfrm>
            <a:custGeom>
              <a:avLst/>
              <a:gdLst/>
              <a:ahLst/>
              <a:cxnLst/>
              <a:rect r="r" b="b" t="t" l="l"/>
              <a:pathLst>
                <a:path h="4892050" w="7070444">
                  <a:moveTo>
                    <a:pt x="0" y="0"/>
                  </a:moveTo>
                  <a:lnTo>
                    <a:pt x="7070444" y="0"/>
                  </a:lnTo>
                  <a:lnTo>
                    <a:pt x="7070444" y="4892050"/>
                  </a:lnTo>
                  <a:lnTo>
                    <a:pt x="0" y="4892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5552363" y="3263116"/>
              <a:ext cx="6615228" cy="4588732"/>
            </a:xfrm>
            <a:custGeom>
              <a:avLst/>
              <a:gdLst/>
              <a:ahLst/>
              <a:cxnLst/>
              <a:rect r="r" b="b" t="t" l="l"/>
              <a:pathLst>
                <a:path h="4588732" w="6615228">
                  <a:moveTo>
                    <a:pt x="0" y="0"/>
                  </a:moveTo>
                  <a:lnTo>
                    <a:pt x="6615228" y="0"/>
                  </a:lnTo>
                  <a:lnTo>
                    <a:pt x="6615228" y="4588732"/>
                  </a:lnTo>
                  <a:lnTo>
                    <a:pt x="0" y="4588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 rot="0">
              <a:off x="0" y="3562760"/>
              <a:ext cx="6267678" cy="14374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839"/>
                </a:lnSpc>
                <a:spcBef>
                  <a:spcPct val="0"/>
                </a:spcBef>
              </a:pPr>
              <a:r>
                <a:rPr lang="en-US" sz="6799" spc="-135">
                  <a:solidFill>
                    <a:srgbClr val="FFFFFF"/>
                  </a:solidFill>
                  <a:latin typeface="Ibarra Real Nova"/>
                  <a:ea typeface="Ibarra Real Nova"/>
                  <a:cs typeface="Ibarra Real Nova"/>
                  <a:sym typeface="Ibarra Real Nova"/>
                </a:rPr>
                <a:t>$4,275M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462050" y="5528907"/>
              <a:ext cx="5690870" cy="13223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024"/>
                </a:lnSpc>
                <a:spcBef>
                  <a:spcPct val="0"/>
                </a:spcBef>
              </a:pPr>
              <a:r>
                <a:rPr lang="en-US" sz="3095" spc="-61">
                  <a:solidFill>
                    <a:srgbClr val="FFFFFF"/>
                  </a:solidFill>
                  <a:latin typeface="Ibarra Real Nova"/>
                  <a:ea typeface="Ibarra Real Nova"/>
                  <a:cs typeface="Ibarra Real Nova"/>
                  <a:sym typeface="Ibarra Real Nova"/>
                </a:rPr>
                <a:t>REVENUE DECLINED</a:t>
              </a:r>
            </a:p>
            <a:p>
              <a:pPr algn="ctr">
                <a:lnSpc>
                  <a:spcPts val="4024"/>
                </a:lnSpc>
                <a:spcBef>
                  <a:spcPct val="0"/>
                </a:spcBef>
              </a:pPr>
              <a:r>
                <a:rPr lang="en-US" sz="3095" spc="-61">
                  <a:solidFill>
                    <a:srgbClr val="FFFFFF"/>
                  </a:solidFill>
                  <a:latin typeface="Ibarra Real Nova"/>
                  <a:ea typeface="Ibarra Real Nova"/>
                  <a:cs typeface="Ibarra Real Nova"/>
                  <a:sym typeface="Ibarra Real Nova"/>
                </a:rPr>
                <a:t>IN FY2012 ALONE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6596468" y="7785173"/>
              <a:ext cx="7755328" cy="15702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696"/>
                </a:lnSpc>
                <a:spcBef>
                  <a:spcPct val="0"/>
                </a:spcBef>
              </a:pPr>
              <a:r>
                <a:rPr lang="en-US" sz="7458" spc="-149">
                  <a:solidFill>
                    <a:srgbClr val="FFFFFF"/>
                  </a:solidFill>
                  <a:latin typeface="Ibarra Real Nova"/>
                  <a:ea typeface="Ibarra Real Nova"/>
                  <a:cs typeface="Ibarra Real Nova"/>
                  <a:sym typeface="Ibarra Real Nova"/>
                </a:rPr>
                <a:t>60.7%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7295151" y="9931848"/>
              <a:ext cx="6339999" cy="14693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440"/>
                </a:lnSpc>
                <a:spcBef>
                  <a:spcPct val="0"/>
                </a:spcBef>
              </a:pPr>
              <a:r>
                <a:rPr lang="en-US" sz="3416" spc="-68">
                  <a:solidFill>
                    <a:srgbClr val="FFFFFF"/>
                  </a:solidFill>
                  <a:latin typeface="Ibarra Real Nova"/>
                  <a:ea typeface="Ibarra Real Nova"/>
                  <a:cs typeface="Ibarra Real Nova"/>
                  <a:sym typeface="Ibarra Real Nova"/>
                </a:rPr>
                <a:t>OF DECADE'S LOSSES</a:t>
              </a:r>
            </a:p>
            <a:p>
              <a:pPr algn="ctr">
                <a:lnSpc>
                  <a:spcPts val="4440"/>
                </a:lnSpc>
                <a:spcBef>
                  <a:spcPct val="0"/>
                </a:spcBef>
              </a:pPr>
              <a:r>
                <a:rPr lang="en-US" sz="3416" spc="-68">
                  <a:solidFill>
                    <a:srgbClr val="FFFFFF"/>
                  </a:solidFill>
                  <a:latin typeface="Ibarra Real Nova"/>
                  <a:ea typeface="Ibarra Real Nova"/>
                  <a:cs typeface="Ibarra Real Nova"/>
                  <a:sym typeface="Ibarra Real Nova"/>
                </a:rPr>
                <a:t>FROM ONE DECISION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14000372" y="3562760"/>
              <a:ext cx="9538819" cy="14374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839"/>
                </a:lnSpc>
                <a:spcBef>
                  <a:spcPct val="0"/>
                </a:spcBef>
              </a:pPr>
              <a:r>
                <a:rPr lang="en-US" sz="6799" spc="-135">
                  <a:solidFill>
                    <a:srgbClr val="FFFFFF"/>
                  </a:solidFill>
                  <a:latin typeface="Ibarra Real Nova"/>
                  <a:ea typeface="Ibarra Real Nova"/>
                  <a:cs typeface="Ibarra Real Nova"/>
                  <a:sym typeface="Ibarra Real Nova"/>
                </a:rPr>
                <a:t>MAY 2020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15832482" y="5835213"/>
              <a:ext cx="6054989" cy="12950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19"/>
                </a:lnSpc>
                <a:spcBef>
                  <a:spcPct val="0"/>
                </a:spcBef>
              </a:pPr>
              <a:r>
                <a:rPr lang="en-US" sz="3014" spc="-60">
                  <a:solidFill>
                    <a:srgbClr val="FFFFFF"/>
                  </a:solidFill>
                  <a:latin typeface="Ibarra Real Nova"/>
                  <a:ea typeface="Ibarra Real Nova"/>
                  <a:cs typeface="Ibarra Real Nova"/>
                  <a:sym typeface="Ibarra Real Nova"/>
                </a:rPr>
                <a:t>FILED FOR </a:t>
              </a:r>
              <a:r>
                <a:rPr lang="en-US" sz="3014" spc="-60">
                  <a:solidFill>
                    <a:srgbClr val="FFFFFF"/>
                  </a:solidFill>
                  <a:latin typeface="Ibarra Real Nova"/>
                  <a:ea typeface="Ibarra Real Nova"/>
                  <a:cs typeface="Ibarra Real Nova"/>
                  <a:sym typeface="Ibarra Real Nova"/>
                </a:rPr>
                <a:t>CHAPTER 11</a:t>
              </a:r>
            </a:p>
            <a:p>
              <a:pPr algn="ctr">
                <a:lnSpc>
                  <a:spcPts val="3919"/>
                </a:lnSpc>
                <a:spcBef>
                  <a:spcPct val="0"/>
                </a:spcBef>
              </a:pPr>
              <a:r>
                <a:rPr lang="en-US" sz="3014" spc="-60">
                  <a:solidFill>
                    <a:srgbClr val="FFFFFF"/>
                  </a:solidFill>
                  <a:latin typeface="Ibarra Real Nova"/>
                  <a:ea typeface="Ibarra Real Nova"/>
                  <a:cs typeface="Ibarra Real Nova"/>
                  <a:sym typeface="Ibarra Real Nova"/>
                </a:rPr>
                <a:t>BANKRUPTCY FILED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566307" y="190500"/>
            <a:ext cx="17155386" cy="1739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99"/>
              </a:lnSpc>
            </a:pPr>
            <a:r>
              <a:rPr lang="en-US" sz="4999" b="true">
                <a:solidFill>
                  <a:srgbClr val="77390F"/>
                </a:solidFill>
                <a:latin typeface="Ibarra Real Nova Bold"/>
                <a:ea typeface="Ibarra Real Nova Bold"/>
                <a:cs typeface="Ibarra Real Nova Bold"/>
                <a:sym typeface="Ibarra Real Nova Bold"/>
              </a:rPr>
              <a:t>What led such a long- established company</a:t>
            </a:r>
          </a:p>
          <a:p>
            <a:pPr algn="ctr">
              <a:lnSpc>
                <a:spcPts val="6999"/>
              </a:lnSpc>
            </a:pPr>
            <a:r>
              <a:rPr lang="en-US" sz="4999" b="true">
                <a:solidFill>
                  <a:srgbClr val="77390F"/>
                </a:solidFill>
                <a:latin typeface="Ibarra Real Nova Bold"/>
                <a:ea typeface="Ibarra Real Nova Bold"/>
                <a:cs typeface="Ibarra Real Nova Bold"/>
                <a:sym typeface="Ibarra Real Nova Bold"/>
              </a:rPr>
              <a:t> to file for bankruptcy?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349363"/>
            <a:ext cx="18016265" cy="8908937"/>
            <a:chOff x="0" y="0"/>
            <a:chExt cx="24021687" cy="11878583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1371600" y="170371"/>
              <a:ext cx="2800044" cy="2672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79"/>
                </a:lnSpc>
              </a:pPr>
              <a:r>
                <a:rPr lang="en-US" b="true" sz="1200" spc="63">
                  <a:solidFill>
                    <a:srgbClr val="F6F3EE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PRESENTED BY : </a:t>
              </a:r>
            </a:p>
          </p:txBody>
        </p:sp>
        <p:sp>
          <p:nvSpPr>
            <p:cNvPr name="AutoShape 4" id="4"/>
            <p:cNvSpPr/>
            <p:nvPr/>
          </p:nvSpPr>
          <p:spPr>
            <a:xfrm>
              <a:off x="3593549" y="324676"/>
              <a:ext cx="2374211" cy="0"/>
            </a:xfrm>
            <a:prstGeom prst="line">
              <a:avLst/>
            </a:prstGeom>
            <a:ln cap="flat" w="12700">
              <a:solidFill>
                <a:srgbClr val="F6F3EE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" id="5"/>
            <p:cNvSpPr/>
            <p:nvPr/>
          </p:nvSpPr>
          <p:spPr>
            <a:xfrm>
              <a:off x="1154549" y="2882053"/>
              <a:ext cx="22867137" cy="0"/>
            </a:xfrm>
            <a:prstGeom prst="line">
              <a:avLst/>
            </a:prstGeom>
            <a:ln cap="flat" w="50800">
              <a:solidFill>
                <a:srgbClr val="A67758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6" id="6"/>
            <p:cNvSpPr txBox="true"/>
            <p:nvPr/>
          </p:nvSpPr>
          <p:spPr>
            <a:xfrm rot="0">
              <a:off x="675180" y="-66675"/>
              <a:ext cx="21974907" cy="29233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839"/>
                </a:lnSpc>
              </a:pPr>
              <a:r>
                <a:rPr lang="en-US" b="true" sz="6799" spc="-135">
                  <a:solidFill>
                    <a:srgbClr val="77390F"/>
                  </a:solidFill>
                  <a:latin typeface="Ibarra Real Nova Bold"/>
                  <a:ea typeface="Ibarra Real Nova Bold"/>
                  <a:cs typeface="Ibarra Real Nova Bold"/>
                  <a:sym typeface="Ibarra Real Nova Bold"/>
                </a:rPr>
                <a:t>FOUR KEY FOCUS AREAS OF THE ANALYSIS</a:t>
              </a:r>
            </a:p>
          </p:txBody>
        </p:sp>
        <p:sp>
          <p:nvSpPr>
            <p:cNvPr name="AutoShape 7" id="7"/>
            <p:cNvSpPr/>
            <p:nvPr/>
          </p:nvSpPr>
          <p:spPr>
            <a:xfrm>
              <a:off x="8067040" y="6595383"/>
              <a:ext cx="8656320" cy="0"/>
            </a:xfrm>
            <a:prstGeom prst="line">
              <a:avLst/>
            </a:prstGeom>
            <a:ln cap="flat" w="50800">
              <a:solidFill>
                <a:srgbClr val="F6F3EE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8" id="8"/>
            <p:cNvSpPr/>
            <p:nvPr/>
          </p:nvSpPr>
          <p:spPr>
            <a:xfrm>
              <a:off x="8270240" y="6798583"/>
              <a:ext cx="8656320" cy="0"/>
            </a:xfrm>
            <a:prstGeom prst="line">
              <a:avLst/>
            </a:prstGeom>
            <a:ln cap="flat" w="50800">
              <a:solidFill>
                <a:srgbClr val="F6F3EE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675180" y="3542913"/>
              <a:ext cx="3842047" cy="8335670"/>
            </a:xfrm>
            <a:custGeom>
              <a:avLst/>
              <a:gdLst/>
              <a:ahLst/>
              <a:cxnLst/>
              <a:rect r="r" b="b" t="t" l="l"/>
              <a:pathLst>
                <a:path h="8335670" w="3842047">
                  <a:moveTo>
                    <a:pt x="0" y="0"/>
                  </a:moveTo>
                  <a:lnTo>
                    <a:pt x="3842048" y="0"/>
                  </a:lnTo>
                  <a:lnTo>
                    <a:pt x="3842048" y="8335670"/>
                  </a:lnTo>
                  <a:lnTo>
                    <a:pt x="0" y="8335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6854881" y="3542913"/>
              <a:ext cx="3842047" cy="8335670"/>
            </a:xfrm>
            <a:custGeom>
              <a:avLst/>
              <a:gdLst/>
              <a:ahLst/>
              <a:cxnLst/>
              <a:rect r="r" b="b" t="t" l="l"/>
              <a:pathLst>
                <a:path h="8335670" w="3842047">
                  <a:moveTo>
                    <a:pt x="0" y="0"/>
                  </a:moveTo>
                  <a:lnTo>
                    <a:pt x="3842047" y="0"/>
                  </a:lnTo>
                  <a:lnTo>
                    <a:pt x="3842047" y="8335670"/>
                  </a:lnTo>
                  <a:lnTo>
                    <a:pt x="0" y="8335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2636437" y="3542913"/>
              <a:ext cx="3853281" cy="8335670"/>
            </a:xfrm>
            <a:custGeom>
              <a:avLst/>
              <a:gdLst/>
              <a:ahLst/>
              <a:cxnLst/>
              <a:rect r="r" b="b" t="t" l="l"/>
              <a:pathLst>
                <a:path h="8335670" w="3853281">
                  <a:moveTo>
                    <a:pt x="0" y="0"/>
                  </a:moveTo>
                  <a:lnTo>
                    <a:pt x="3853282" y="0"/>
                  </a:lnTo>
                  <a:lnTo>
                    <a:pt x="3853282" y="8335670"/>
                  </a:lnTo>
                  <a:lnTo>
                    <a:pt x="0" y="8335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8580087" y="3497655"/>
              <a:ext cx="3853281" cy="8335670"/>
            </a:xfrm>
            <a:custGeom>
              <a:avLst/>
              <a:gdLst/>
              <a:ahLst/>
              <a:cxnLst/>
              <a:rect r="r" b="b" t="t" l="l"/>
              <a:pathLst>
                <a:path h="8335670" w="3853281">
                  <a:moveTo>
                    <a:pt x="0" y="0"/>
                  </a:moveTo>
                  <a:lnTo>
                    <a:pt x="3853282" y="0"/>
                  </a:lnTo>
                  <a:lnTo>
                    <a:pt x="3853282" y="8335670"/>
                  </a:lnTo>
                  <a:lnTo>
                    <a:pt x="0" y="8335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4629881" y="6631627"/>
              <a:ext cx="1988937" cy="740879"/>
            </a:xfrm>
            <a:custGeom>
              <a:avLst/>
              <a:gdLst/>
              <a:ahLst/>
              <a:cxnLst/>
              <a:rect r="r" b="b" t="t" l="l"/>
              <a:pathLst>
                <a:path h="740879" w="1988937">
                  <a:moveTo>
                    <a:pt x="0" y="0"/>
                  </a:moveTo>
                  <a:lnTo>
                    <a:pt x="1988937" y="0"/>
                  </a:lnTo>
                  <a:lnTo>
                    <a:pt x="1988937" y="740879"/>
                  </a:lnTo>
                  <a:lnTo>
                    <a:pt x="0" y="7408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 rot="0">
              <a:off x="675180" y="4116440"/>
              <a:ext cx="3842047" cy="61446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70"/>
                </a:lnSpc>
                <a:spcBef>
                  <a:spcPct val="0"/>
                </a:spcBef>
              </a:pPr>
              <a:r>
                <a:rPr lang="en-US" b="true" sz="2900" spc="-58">
                  <a:solidFill>
                    <a:srgbClr val="FFFFFF"/>
                  </a:solidFill>
                  <a:latin typeface="Ibarra Real Nova Bold"/>
                  <a:ea typeface="Ibarra Real Nova Bold"/>
                  <a:cs typeface="Ibarra Real Nova Bold"/>
                  <a:sym typeface="Ibarra Real Nova Bold"/>
                </a:rPr>
                <a:t>DATA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6220463"/>
              <a:ext cx="5043129" cy="44477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70"/>
                </a:lnSpc>
                <a:spcBef>
                  <a:spcPct val="0"/>
                </a:spcBef>
              </a:pPr>
              <a:r>
                <a:rPr lang="en-US" sz="1900" spc="-38">
                  <a:solidFill>
                    <a:srgbClr val="FFFFFF"/>
                  </a:solidFill>
                  <a:latin typeface="Ibarra Real Nova"/>
                  <a:ea typeface="Ibarra Real Nova"/>
                  <a:cs typeface="Ibarra Real Nova"/>
                  <a:sym typeface="Ibarra Real Nova"/>
                </a:rPr>
                <a:t>FINANCIAL </a:t>
              </a:r>
            </a:p>
            <a:p>
              <a:pPr algn="ctr">
                <a:lnSpc>
                  <a:spcPts val="2470"/>
                </a:lnSpc>
                <a:spcBef>
                  <a:spcPct val="0"/>
                </a:spcBef>
              </a:pPr>
              <a:r>
                <a:rPr lang="en-US" sz="1900" spc="-38">
                  <a:solidFill>
                    <a:srgbClr val="FFFFFF"/>
                  </a:solidFill>
                  <a:latin typeface="Ibarra Real Nova"/>
                  <a:ea typeface="Ibarra Real Nova"/>
                  <a:cs typeface="Ibarra Real Nova"/>
                  <a:sym typeface="Ibarra Real Nova"/>
                </a:rPr>
                <a:t>OPERATIONAL</a:t>
              </a:r>
            </a:p>
            <a:p>
              <a:pPr algn="ctr">
                <a:lnSpc>
                  <a:spcPts val="2470"/>
                </a:lnSpc>
                <a:spcBef>
                  <a:spcPct val="0"/>
                </a:spcBef>
              </a:pPr>
              <a:r>
                <a:rPr lang="en-US" sz="1900" spc="-38">
                  <a:solidFill>
                    <a:srgbClr val="FFFFFF"/>
                  </a:solidFill>
                  <a:latin typeface="Ibarra Real Nova"/>
                  <a:ea typeface="Ibarra Real Nova"/>
                  <a:cs typeface="Ibarra Real Nova"/>
                  <a:sym typeface="Ibarra Real Nova"/>
                </a:rPr>
                <a:t> MARKET</a:t>
              </a:r>
            </a:p>
            <a:p>
              <a:pPr algn="ctr">
                <a:lnSpc>
                  <a:spcPts val="2470"/>
                </a:lnSpc>
                <a:spcBef>
                  <a:spcPct val="0"/>
                </a:spcBef>
              </a:pPr>
            </a:p>
            <a:p>
              <a:pPr algn="ctr">
                <a:lnSpc>
                  <a:spcPts val="2470"/>
                </a:lnSpc>
                <a:spcBef>
                  <a:spcPct val="0"/>
                </a:spcBef>
              </a:pPr>
            </a:p>
            <a:p>
              <a:pPr algn="ctr">
                <a:lnSpc>
                  <a:spcPts val="2470"/>
                </a:lnSpc>
                <a:spcBef>
                  <a:spcPct val="0"/>
                </a:spcBef>
              </a:pPr>
            </a:p>
            <a:p>
              <a:pPr algn="ctr">
                <a:lnSpc>
                  <a:spcPts val="2470"/>
                </a:lnSpc>
                <a:spcBef>
                  <a:spcPct val="0"/>
                </a:spcBef>
              </a:pPr>
            </a:p>
            <a:p>
              <a:pPr algn="ctr">
                <a:lnSpc>
                  <a:spcPts val="2470"/>
                </a:lnSpc>
                <a:spcBef>
                  <a:spcPct val="0"/>
                </a:spcBef>
              </a:pPr>
              <a:r>
                <a:rPr lang="en-US" sz="1900" spc="-38">
                  <a:solidFill>
                    <a:srgbClr val="FFFFFF"/>
                  </a:solidFill>
                  <a:latin typeface="Ibarra Real Nova"/>
                  <a:ea typeface="Ibarra Real Nova"/>
                  <a:cs typeface="Ibarra Real Nova"/>
                  <a:sym typeface="Ibarra Real Nova"/>
                </a:rPr>
                <a:t>10-YEAR DATASET, </a:t>
              </a:r>
            </a:p>
            <a:p>
              <a:pPr algn="ctr">
                <a:lnSpc>
                  <a:spcPts val="2470"/>
                </a:lnSpc>
                <a:spcBef>
                  <a:spcPct val="0"/>
                </a:spcBef>
              </a:pPr>
              <a:r>
                <a:rPr lang="en-US" sz="1900" spc="-38">
                  <a:solidFill>
                    <a:srgbClr val="FFFFFF"/>
                  </a:solidFill>
                  <a:latin typeface="Ibarra Real Nova"/>
                  <a:ea typeface="Ibarra Real Nova"/>
                  <a:cs typeface="Ibarra Real Nova"/>
                  <a:sym typeface="Ibarra Real Nova"/>
                </a:rPr>
                <a:t>COVID SHOCK</a:t>
              </a:r>
            </a:p>
            <a:p>
              <a:pPr algn="ctr">
                <a:lnSpc>
                  <a:spcPts val="2470"/>
                </a:lnSpc>
                <a:spcBef>
                  <a:spcPct val="0"/>
                </a:spcBef>
              </a:pPr>
              <a:r>
                <a:rPr lang="en-US" sz="1900" spc="-38">
                  <a:solidFill>
                    <a:srgbClr val="FFFFFF"/>
                  </a:solidFill>
                  <a:latin typeface="Ibarra Real Nova"/>
                  <a:ea typeface="Ibarra Real Nova"/>
                  <a:cs typeface="Ibarra Real Nova"/>
                  <a:sym typeface="Ibarra Real Nova"/>
                </a:rPr>
                <a:t>SEC EDGAR &amp;</a:t>
              </a:r>
            </a:p>
            <a:p>
              <a:pPr algn="ctr">
                <a:lnSpc>
                  <a:spcPts val="2470"/>
                </a:lnSpc>
                <a:spcBef>
                  <a:spcPct val="0"/>
                </a:spcBef>
              </a:pPr>
              <a:r>
                <a:rPr lang="en-US" sz="1900" spc="-38">
                  <a:solidFill>
                    <a:srgbClr val="FFFFFF"/>
                  </a:solidFill>
                  <a:latin typeface="Ibarra Real Nova"/>
                  <a:ea typeface="Ibarra Real Nova"/>
                  <a:cs typeface="Ibarra Real Nova"/>
                  <a:sym typeface="Ibarra Real Nova"/>
                </a:rPr>
                <a:t> U.S. CENSUS BUREAU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6915835" y="4104579"/>
              <a:ext cx="3720140" cy="6263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834"/>
                </a:lnSpc>
                <a:spcBef>
                  <a:spcPct val="0"/>
                </a:spcBef>
              </a:pPr>
              <a:r>
                <a:rPr lang="en-US" b="true" sz="2949" spc="-58">
                  <a:solidFill>
                    <a:srgbClr val="FFFFFF"/>
                  </a:solidFill>
                  <a:latin typeface="Ibarra Real Nova Bold"/>
                  <a:ea typeface="Ibarra Real Nova Bold"/>
                  <a:cs typeface="Ibarra Real Nova Bold"/>
                  <a:sym typeface="Ibarra Real Nova Bold"/>
                </a:rPr>
                <a:t>ANALYSIS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6731472" y="6175957"/>
              <a:ext cx="4088866" cy="11965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70"/>
                </a:lnSpc>
                <a:spcBef>
                  <a:spcPct val="0"/>
                </a:spcBef>
              </a:pPr>
              <a:r>
                <a:rPr lang="en-US" sz="1900" spc="-38">
                  <a:solidFill>
                    <a:srgbClr val="FFFFFF"/>
                  </a:solidFill>
                  <a:latin typeface="Ibarra Real Nova"/>
                  <a:ea typeface="Ibarra Real Nova"/>
                  <a:cs typeface="Ibarra Real Nova"/>
                  <a:sym typeface="Ibarra Real Nova"/>
                </a:rPr>
                <a:t>MARKETING </a:t>
              </a:r>
            </a:p>
            <a:p>
              <a:pPr algn="ctr">
                <a:lnSpc>
                  <a:spcPts val="2470"/>
                </a:lnSpc>
                <a:spcBef>
                  <a:spcPct val="0"/>
                </a:spcBef>
              </a:pPr>
              <a:r>
                <a:rPr lang="en-US" sz="1900" spc="-38">
                  <a:solidFill>
                    <a:srgbClr val="FFFFFF"/>
                  </a:solidFill>
                  <a:latin typeface="Ibarra Real Nova"/>
                  <a:ea typeface="Ibarra Real Nova"/>
                  <a:cs typeface="Ibarra Real Nova"/>
                  <a:sym typeface="Ibarra Real Nova"/>
                </a:rPr>
                <a:t>OPERATIONS </a:t>
              </a:r>
            </a:p>
            <a:p>
              <a:pPr algn="ctr">
                <a:lnSpc>
                  <a:spcPts val="2470"/>
                </a:lnSpc>
                <a:spcBef>
                  <a:spcPct val="0"/>
                </a:spcBef>
              </a:pPr>
              <a:r>
                <a:rPr lang="en-US" sz="1900" spc="-38">
                  <a:solidFill>
                    <a:srgbClr val="FFFFFF"/>
                  </a:solidFill>
                  <a:latin typeface="Ibarra Real Nova"/>
                  <a:ea typeface="Ibarra Real Nova"/>
                  <a:cs typeface="Ibarra Real Nova"/>
                  <a:sym typeface="Ibarra Real Nova"/>
                </a:rPr>
                <a:t> FINANCE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6972022" y="8975881"/>
              <a:ext cx="3607764" cy="20093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69"/>
                </a:lnSpc>
                <a:spcBef>
                  <a:spcPct val="0"/>
                </a:spcBef>
              </a:pPr>
              <a:r>
                <a:rPr lang="en-US" sz="1899" spc="-37">
                  <a:solidFill>
                    <a:srgbClr val="FFFFFF"/>
                  </a:solidFill>
                  <a:latin typeface="Ibarra Real Nova"/>
                  <a:ea typeface="Ibarra Real Nova"/>
                  <a:cs typeface="Ibarra Real Nova"/>
                  <a:sym typeface="Ibarra Real Nova"/>
                </a:rPr>
                <a:t>DESCRIPTIVE &amp; DIAGNOSTIC</a:t>
              </a:r>
            </a:p>
            <a:p>
              <a:pPr algn="ctr">
                <a:lnSpc>
                  <a:spcPts val="2469"/>
                </a:lnSpc>
                <a:spcBef>
                  <a:spcPct val="0"/>
                </a:spcBef>
              </a:pPr>
              <a:r>
                <a:rPr lang="en-US" sz="1899" spc="-37">
                  <a:solidFill>
                    <a:srgbClr val="FFFFFF"/>
                  </a:solidFill>
                  <a:latin typeface="Ibarra Real Nova"/>
                  <a:ea typeface="Ibarra Real Nova"/>
                  <a:cs typeface="Ibarra Real Nova"/>
                  <a:sym typeface="Ibarra Real Nova"/>
                </a:rPr>
                <a:t> CORRELATION R = 0.786 </a:t>
              </a:r>
            </a:p>
            <a:p>
              <a:pPr algn="ctr">
                <a:lnSpc>
                  <a:spcPts val="2469"/>
                </a:lnSpc>
                <a:spcBef>
                  <a:spcPct val="0"/>
                </a:spcBef>
              </a:pPr>
              <a:r>
                <a:rPr lang="en-US" sz="1899" spc="-37">
                  <a:solidFill>
                    <a:srgbClr val="FFFFFF"/>
                  </a:solidFill>
                  <a:latin typeface="Ibarra Real Nova"/>
                  <a:ea typeface="Ibarra Real Nova"/>
                  <a:cs typeface="Ibarra Real Nova"/>
                  <a:sym typeface="Ibarra Real Nova"/>
                </a:rPr>
                <a:t> R² = 0.249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13394701" y="3798940"/>
              <a:ext cx="2487612" cy="124946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70"/>
                </a:lnSpc>
                <a:spcBef>
                  <a:spcPct val="0"/>
                </a:spcBef>
              </a:pPr>
              <a:r>
                <a:rPr lang="en-US" b="true" sz="2900" spc="-58">
                  <a:solidFill>
                    <a:srgbClr val="FFFFFF"/>
                  </a:solidFill>
                  <a:latin typeface="Ibarra Real Nova Bold"/>
                  <a:ea typeface="Ibarra Real Nova Bold"/>
                  <a:cs typeface="Ibarra Real Nova Bold"/>
                  <a:sym typeface="Ibarra Real Nova Bold"/>
                </a:rPr>
                <a:t>DECISION</a:t>
              </a:r>
            </a:p>
            <a:p>
              <a:pPr algn="ctr">
                <a:lnSpc>
                  <a:spcPts val="3770"/>
                </a:lnSpc>
                <a:spcBef>
                  <a:spcPct val="0"/>
                </a:spcBef>
              </a:pPr>
              <a:r>
                <a:rPr lang="en-US" b="true" sz="2900" spc="-58">
                  <a:solidFill>
                    <a:srgbClr val="FFFFFF"/>
                  </a:solidFill>
                  <a:latin typeface="Ibarra Real Nova Bold"/>
                  <a:ea typeface="Ibarra Real Nova Bold"/>
                  <a:cs typeface="Ibarra Real Nova Bold"/>
                  <a:sym typeface="Ibarra Real Nova Bold"/>
                </a:rPr>
                <a:t>MAKING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13087305" y="6220463"/>
              <a:ext cx="3102406" cy="36349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69"/>
                </a:lnSpc>
                <a:spcBef>
                  <a:spcPct val="0"/>
                </a:spcBef>
              </a:pPr>
              <a:r>
                <a:rPr lang="en-US" sz="1899" spc="-37">
                  <a:solidFill>
                    <a:srgbClr val="FFFFFF"/>
                  </a:solidFill>
                  <a:latin typeface="Ibarra Real Nova"/>
                  <a:ea typeface="Ibarra Real Nova"/>
                  <a:cs typeface="Ibarra Real Nova"/>
                  <a:sym typeface="Ibarra Real Nova"/>
                </a:rPr>
                <a:t>3 CRITICAL DECISION MAKING FAILURES</a:t>
              </a:r>
            </a:p>
            <a:p>
              <a:pPr algn="ctr">
                <a:lnSpc>
                  <a:spcPts val="2469"/>
                </a:lnSpc>
                <a:spcBef>
                  <a:spcPct val="0"/>
                </a:spcBef>
              </a:pPr>
            </a:p>
            <a:p>
              <a:pPr algn="ctr">
                <a:lnSpc>
                  <a:spcPts val="2469"/>
                </a:lnSpc>
                <a:spcBef>
                  <a:spcPct val="0"/>
                </a:spcBef>
              </a:pPr>
              <a:r>
                <a:rPr lang="en-US" sz="1899" spc="-37">
                  <a:solidFill>
                    <a:srgbClr val="FFFFFF"/>
                  </a:solidFill>
                  <a:latin typeface="Ibarra Real Nova"/>
                  <a:ea typeface="Ibarra Real Nova"/>
                  <a:cs typeface="Ibarra Real Nova"/>
                  <a:sym typeface="Ibarra Real Nova"/>
                </a:rPr>
                <a:t>QUANTIFIED IMPACT: $4,275M</a:t>
              </a:r>
            </a:p>
            <a:p>
              <a:pPr algn="ctr">
                <a:lnSpc>
                  <a:spcPts val="2469"/>
                </a:lnSpc>
                <a:spcBef>
                  <a:spcPct val="0"/>
                </a:spcBef>
              </a:pPr>
            </a:p>
            <a:p>
              <a:pPr algn="ctr">
                <a:lnSpc>
                  <a:spcPts val="2469"/>
                </a:lnSpc>
                <a:spcBef>
                  <a:spcPct val="0"/>
                </a:spcBef>
              </a:pP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18742660" y="4116440"/>
              <a:ext cx="3516848" cy="61446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70"/>
                </a:lnSpc>
                <a:spcBef>
                  <a:spcPct val="0"/>
                </a:spcBef>
              </a:pPr>
              <a:r>
                <a:rPr lang="en-US" b="true" sz="2900" spc="-58">
                  <a:solidFill>
                    <a:srgbClr val="FFFFFF"/>
                  </a:solidFill>
                  <a:latin typeface="Ibarra Real Nova Bold"/>
                  <a:ea typeface="Ibarra Real Nova Bold"/>
                  <a:cs typeface="Ibarra Real Nova Bold"/>
                  <a:sym typeface="Ibarra Real Nova Bold"/>
                </a:rPr>
                <a:t>CONCLUSION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18742660" y="6769469"/>
              <a:ext cx="3597197" cy="32285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70"/>
                </a:lnSpc>
                <a:spcBef>
                  <a:spcPct val="0"/>
                </a:spcBef>
              </a:pPr>
              <a:r>
                <a:rPr lang="en-US" sz="1900" spc="-38">
                  <a:solidFill>
                    <a:srgbClr val="FFFFFF"/>
                  </a:solidFill>
                  <a:latin typeface="Ibarra Real Nova"/>
                  <a:ea typeface="Ibarra Real Nova"/>
                  <a:cs typeface="Ibarra Real Nova"/>
                  <a:sym typeface="Ibarra Real Nova"/>
                </a:rPr>
                <a:t>FOUR</a:t>
              </a:r>
            </a:p>
            <a:p>
              <a:pPr algn="ctr">
                <a:lnSpc>
                  <a:spcPts val="2470"/>
                </a:lnSpc>
                <a:spcBef>
                  <a:spcPct val="0"/>
                </a:spcBef>
              </a:pPr>
              <a:r>
                <a:rPr lang="en-US" sz="1900" spc="-38">
                  <a:solidFill>
                    <a:srgbClr val="FFFFFF"/>
                  </a:solidFill>
                  <a:latin typeface="Ibarra Real Nova"/>
                  <a:ea typeface="Ibarra Real Nova"/>
                  <a:cs typeface="Ibarra Real Nova"/>
                  <a:sym typeface="Ibarra Real Nova"/>
                </a:rPr>
                <a:t>RECOMMENDATIONS</a:t>
              </a:r>
            </a:p>
            <a:p>
              <a:pPr algn="ctr">
                <a:lnSpc>
                  <a:spcPts val="2470"/>
                </a:lnSpc>
                <a:spcBef>
                  <a:spcPct val="0"/>
                </a:spcBef>
              </a:pPr>
            </a:p>
            <a:p>
              <a:pPr algn="ctr">
                <a:lnSpc>
                  <a:spcPts val="2470"/>
                </a:lnSpc>
                <a:spcBef>
                  <a:spcPct val="0"/>
                </a:spcBef>
              </a:pPr>
            </a:p>
            <a:p>
              <a:pPr algn="ctr">
                <a:lnSpc>
                  <a:spcPts val="2470"/>
                </a:lnSpc>
                <a:spcBef>
                  <a:spcPct val="0"/>
                </a:spcBef>
              </a:pPr>
            </a:p>
            <a:p>
              <a:pPr algn="ctr">
                <a:lnSpc>
                  <a:spcPts val="2470"/>
                </a:lnSpc>
                <a:spcBef>
                  <a:spcPct val="0"/>
                </a:spcBef>
              </a:pPr>
              <a:r>
                <a:rPr lang="en-US" sz="1900" spc="-38">
                  <a:solidFill>
                    <a:srgbClr val="FFFFFF"/>
                  </a:solidFill>
                  <a:latin typeface="Ibarra Real Nova"/>
                  <a:ea typeface="Ibarra Real Nova"/>
                  <a:cs typeface="Ibarra Real Nova"/>
                  <a:sym typeface="Ibarra Real Nova"/>
                </a:rPr>
                <a:t>DATA-DRIVEN APPROACH</a:t>
              </a:r>
            </a:p>
            <a:p>
              <a:pPr algn="ctr">
                <a:lnSpc>
                  <a:spcPts val="2470"/>
                </a:lnSpc>
                <a:spcBef>
                  <a:spcPct val="0"/>
                </a:spcBef>
              </a:pPr>
              <a:r>
                <a:rPr lang="en-US" sz="1900" spc="-38">
                  <a:solidFill>
                    <a:srgbClr val="FFFFFF"/>
                  </a:solidFill>
                  <a:latin typeface="Ibarra Real Nova"/>
                  <a:ea typeface="Ibarra Real Nova"/>
                  <a:cs typeface="Ibarra Real Nova"/>
                  <a:sym typeface="Ibarra Real Nova"/>
                </a:rPr>
                <a:t>EVALUATION</a:t>
              </a:r>
            </a:p>
          </p:txBody>
        </p:sp>
        <p:sp>
          <p:nvSpPr>
            <p:cNvPr name="Freeform 23" id="23"/>
            <p:cNvSpPr/>
            <p:nvPr/>
          </p:nvSpPr>
          <p:spPr>
            <a:xfrm flipH="false" flipV="false" rot="0">
              <a:off x="16591150" y="6778994"/>
              <a:ext cx="1988937" cy="740879"/>
            </a:xfrm>
            <a:custGeom>
              <a:avLst/>
              <a:gdLst/>
              <a:ahLst/>
              <a:cxnLst/>
              <a:rect r="r" b="b" t="t" l="l"/>
              <a:pathLst>
                <a:path h="740879" w="1988937">
                  <a:moveTo>
                    <a:pt x="0" y="0"/>
                  </a:moveTo>
                  <a:lnTo>
                    <a:pt x="1988937" y="0"/>
                  </a:lnTo>
                  <a:lnTo>
                    <a:pt x="1988937" y="740879"/>
                  </a:lnTo>
                  <a:lnTo>
                    <a:pt x="0" y="7408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10579787" y="6631627"/>
              <a:ext cx="1988937" cy="740879"/>
            </a:xfrm>
            <a:custGeom>
              <a:avLst/>
              <a:gdLst/>
              <a:ahLst/>
              <a:cxnLst/>
              <a:rect r="r" b="b" t="t" l="l"/>
              <a:pathLst>
                <a:path h="740879" w="1988937">
                  <a:moveTo>
                    <a:pt x="0" y="0"/>
                  </a:moveTo>
                  <a:lnTo>
                    <a:pt x="1988937" y="0"/>
                  </a:lnTo>
                  <a:lnTo>
                    <a:pt x="1988937" y="740879"/>
                  </a:lnTo>
                  <a:lnTo>
                    <a:pt x="0" y="7408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6775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015285" y="0"/>
            <a:ext cx="11272715" cy="9258300"/>
            <a:chOff x="0" y="0"/>
            <a:chExt cx="15030287" cy="1234440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9363" t="0" r="9363" b="0"/>
            <a:stretch>
              <a:fillRect/>
            </a:stretch>
          </p:blipFill>
          <p:spPr>
            <a:xfrm flipH="false" flipV="false">
              <a:off x="0" y="0"/>
              <a:ext cx="15030287" cy="12344400"/>
            </a:xfrm>
            <a:prstGeom prst="rect">
              <a:avLst/>
            </a:prstGeom>
          </p:spPr>
        </p:pic>
      </p:grpSp>
      <p:grpSp>
        <p:nvGrpSpPr>
          <p:cNvPr name="Group 4" id="4"/>
          <p:cNvGrpSpPr/>
          <p:nvPr/>
        </p:nvGrpSpPr>
        <p:grpSpPr>
          <a:xfrm rot="0">
            <a:off x="-9525" y="0"/>
            <a:ext cx="7987912" cy="10287000"/>
            <a:chOff x="0" y="0"/>
            <a:chExt cx="5662892" cy="729279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662892" cy="7292791"/>
            </a:xfrm>
            <a:custGeom>
              <a:avLst/>
              <a:gdLst/>
              <a:ahLst/>
              <a:cxnLst/>
              <a:rect r="r" b="b" t="t" l="l"/>
              <a:pathLst>
                <a:path h="7292791" w="5662892">
                  <a:moveTo>
                    <a:pt x="0" y="0"/>
                  </a:moveTo>
                  <a:lnTo>
                    <a:pt x="5662892" y="0"/>
                  </a:lnTo>
                  <a:lnTo>
                    <a:pt x="5662892" y="7292791"/>
                  </a:lnTo>
                  <a:lnTo>
                    <a:pt x="0" y="7292791"/>
                  </a:lnTo>
                  <a:close/>
                </a:path>
              </a:pathLst>
            </a:custGeom>
            <a:solidFill>
              <a:srgbClr val="A67758"/>
            </a:solidFill>
          </p:spPr>
        </p:sp>
      </p:grpSp>
      <p:sp>
        <p:nvSpPr>
          <p:cNvPr name="AutoShape 6" id="6"/>
          <p:cNvSpPr/>
          <p:nvPr/>
        </p:nvSpPr>
        <p:spPr>
          <a:xfrm flipV="true">
            <a:off x="1028700" y="6028839"/>
            <a:ext cx="5986585" cy="0"/>
          </a:xfrm>
          <a:prstGeom prst="line">
            <a:avLst/>
          </a:prstGeom>
          <a:ln cap="flat" w="9525">
            <a:solidFill>
              <a:srgbClr val="F6F3E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0" y="9153060"/>
            <a:ext cx="18288000" cy="1027895"/>
            <a:chOff x="0" y="0"/>
            <a:chExt cx="12964962" cy="72870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964962" cy="728709"/>
            </a:xfrm>
            <a:custGeom>
              <a:avLst/>
              <a:gdLst/>
              <a:ahLst/>
              <a:cxnLst/>
              <a:rect r="r" b="b" t="t" l="l"/>
              <a:pathLst>
                <a:path h="728709" w="12964962">
                  <a:moveTo>
                    <a:pt x="0" y="0"/>
                  </a:moveTo>
                  <a:lnTo>
                    <a:pt x="12964962" y="0"/>
                  </a:lnTo>
                  <a:lnTo>
                    <a:pt x="12964962" y="728709"/>
                  </a:lnTo>
                  <a:lnTo>
                    <a:pt x="0" y="728709"/>
                  </a:lnTo>
                  <a:close/>
                </a:path>
              </a:pathLst>
            </a:custGeom>
            <a:solidFill>
              <a:srgbClr val="F6F3EE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1028700" y="3537119"/>
            <a:ext cx="6135845" cy="2209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39"/>
              </a:lnSpc>
            </a:pPr>
            <a:r>
              <a:rPr lang="en-US" sz="6799" spc="-135">
                <a:solidFill>
                  <a:srgbClr val="F6F3EE"/>
                </a:solidFill>
                <a:latin typeface="Ibarra Real Nova"/>
                <a:ea typeface="Ibarra Real Nova"/>
                <a:cs typeface="Ibarra Real Nova"/>
                <a:sym typeface="Ibarra Real Nova"/>
              </a:rPr>
              <a:t>DATA COLLECTION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955363" y="300856"/>
            <a:ext cx="9525" cy="9450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61"/>
              </a:lnSpc>
              <a:spcBef>
                <a:spcPct val="0"/>
              </a:spcBef>
            </a:pPr>
          </a:p>
        </p:txBody>
      </p:sp>
      <p:sp>
        <p:nvSpPr>
          <p:cNvPr name="AutoShape 3" id="3"/>
          <p:cNvSpPr/>
          <p:nvPr/>
        </p:nvSpPr>
        <p:spPr>
          <a:xfrm>
            <a:off x="571070" y="1446264"/>
            <a:ext cx="17155386" cy="0"/>
          </a:xfrm>
          <a:prstGeom prst="line">
            <a:avLst/>
          </a:prstGeom>
          <a:ln cap="flat" w="9525">
            <a:solidFill>
              <a:srgbClr val="2A241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540022" y="2300336"/>
            <a:ext cx="17186434" cy="6295928"/>
            <a:chOff x="0" y="0"/>
            <a:chExt cx="22915245" cy="839457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8699352" y="0"/>
              <a:ext cx="5545238" cy="8394570"/>
            </a:xfrm>
            <a:custGeom>
              <a:avLst/>
              <a:gdLst/>
              <a:ahLst/>
              <a:cxnLst/>
              <a:rect r="r" b="b" t="t" l="l"/>
              <a:pathLst>
                <a:path h="8394570" w="5545238">
                  <a:moveTo>
                    <a:pt x="0" y="0"/>
                  </a:moveTo>
                  <a:lnTo>
                    <a:pt x="5545238" y="0"/>
                  </a:lnTo>
                  <a:lnTo>
                    <a:pt x="5545238" y="8394570"/>
                  </a:lnTo>
                  <a:lnTo>
                    <a:pt x="0" y="83945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545238" cy="8394570"/>
            </a:xfrm>
            <a:custGeom>
              <a:avLst/>
              <a:gdLst/>
              <a:ahLst/>
              <a:cxnLst/>
              <a:rect r="r" b="b" t="t" l="l"/>
              <a:pathLst>
                <a:path h="8394570" w="5545238">
                  <a:moveTo>
                    <a:pt x="0" y="0"/>
                  </a:moveTo>
                  <a:lnTo>
                    <a:pt x="5545238" y="0"/>
                  </a:lnTo>
                  <a:lnTo>
                    <a:pt x="5545238" y="8394570"/>
                  </a:lnTo>
                  <a:lnTo>
                    <a:pt x="0" y="83945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17154280" y="0"/>
              <a:ext cx="5545238" cy="8394570"/>
            </a:xfrm>
            <a:custGeom>
              <a:avLst/>
              <a:gdLst/>
              <a:ahLst/>
              <a:cxnLst/>
              <a:rect r="r" b="b" t="t" l="l"/>
              <a:pathLst>
                <a:path h="8394570" w="5545238">
                  <a:moveTo>
                    <a:pt x="0" y="0"/>
                  </a:moveTo>
                  <a:lnTo>
                    <a:pt x="5545238" y="0"/>
                  </a:lnTo>
                  <a:lnTo>
                    <a:pt x="5545238" y="8394570"/>
                  </a:lnTo>
                  <a:lnTo>
                    <a:pt x="0" y="83945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 rot="0">
              <a:off x="11465621" y="3601867"/>
              <a:ext cx="12700" cy="3304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944992"/>
              <a:ext cx="5504269" cy="17967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525"/>
                </a:lnSpc>
                <a:spcBef>
                  <a:spcPct val="0"/>
                </a:spcBef>
              </a:pPr>
              <a:r>
                <a:rPr lang="en-US" b="true" sz="3946" spc="209">
                  <a:solidFill>
                    <a:srgbClr val="FFFFFF"/>
                  </a:solidFill>
                  <a:latin typeface="Ibarra Real Nova Bold"/>
                  <a:ea typeface="Ibarra Real Nova Bold"/>
                  <a:cs typeface="Ibarra Real Nova Bold"/>
                  <a:sym typeface="Ibarra Real Nova Bold"/>
                </a:rPr>
                <a:t>FINANCIAL DATA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41397" y="3416351"/>
              <a:ext cx="5749655" cy="44645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47209" indent="-223605" lvl="1">
                <a:lnSpc>
                  <a:spcPts val="289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b="true" sz="2071" spc="109">
                  <a:solidFill>
                    <a:srgbClr val="FFFFFF"/>
                  </a:solidFill>
                  <a:latin typeface="Ibarra Real Nova Bold"/>
                  <a:ea typeface="Ibarra Real Nova Bold"/>
                  <a:cs typeface="Ibarra Real Nova Bold"/>
                  <a:sym typeface="Ibarra Real Nova Bold"/>
                </a:rPr>
                <a:t> NET SALES</a:t>
              </a:r>
            </a:p>
            <a:p>
              <a:pPr algn="l">
                <a:lnSpc>
                  <a:spcPts val="2899"/>
                </a:lnSpc>
                <a:spcBef>
                  <a:spcPct val="0"/>
                </a:spcBef>
              </a:pPr>
            </a:p>
            <a:p>
              <a:pPr algn="l" marL="447209" indent="-223605" lvl="1">
                <a:lnSpc>
                  <a:spcPts val="289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b="true" sz="2071" spc="109">
                  <a:solidFill>
                    <a:srgbClr val="FFFFFF"/>
                  </a:solidFill>
                  <a:latin typeface="Ibarra Real Nova Bold"/>
                  <a:ea typeface="Ibarra Real Nova Bold"/>
                  <a:cs typeface="Ibarra Real Nova Bold"/>
                  <a:sym typeface="Ibarra Real Nova Bold"/>
                </a:rPr>
                <a:t>NET INCOME/LOSS($M)</a:t>
              </a:r>
            </a:p>
            <a:p>
              <a:pPr algn="l">
                <a:lnSpc>
                  <a:spcPts val="2899"/>
                </a:lnSpc>
                <a:spcBef>
                  <a:spcPct val="0"/>
                </a:spcBef>
              </a:pPr>
            </a:p>
            <a:p>
              <a:pPr algn="l" marL="447209" indent="-223605" lvl="1">
                <a:lnSpc>
                  <a:spcPts val="289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b="true" sz="2071" spc="109">
                  <a:solidFill>
                    <a:srgbClr val="FFFFFF"/>
                  </a:solidFill>
                  <a:latin typeface="Ibarra Real Nova Bold"/>
                  <a:ea typeface="Ibarra Real Nova Bold"/>
                  <a:cs typeface="Ibarra Real Nova Bold"/>
                  <a:sym typeface="Ibarra Real Nova Bold"/>
                </a:rPr>
                <a:t>LONG-TERM DEBT</a:t>
              </a:r>
            </a:p>
            <a:p>
              <a:pPr algn="l">
                <a:lnSpc>
                  <a:spcPts val="2899"/>
                </a:lnSpc>
                <a:spcBef>
                  <a:spcPct val="0"/>
                </a:spcBef>
              </a:pPr>
            </a:p>
            <a:p>
              <a:pPr algn="l" marL="447209" indent="-223605" lvl="1">
                <a:lnSpc>
                  <a:spcPts val="289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b="true" sz="2071" spc="109">
                  <a:solidFill>
                    <a:srgbClr val="FFFFFF"/>
                  </a:solidFill>
                  <a:latin typeface="Ibarra Real Nova Bold"/>
                  <a:ea typeface="Ibarra Real Nova Bold"/>
                  <a:cs typeface="Ibarra Real Nova Bold"/>
                  <a:sym typeface="Ibarra Real Nova Bold"/>
                </a:rPr>
                <a:t>FY2010 TO FY 2019  </a:t>
              </a:r>
            </a:p>
            <a:p>
              <a:pPr algn="l">
                <a:lnSpc>
                  <a:spcPts val="2899"/>
                </a:lnSpc>
                <a:spcBef>
                  <a:spcPct val="0"/>
                </a:spcBef>
              </a:pPr>
              <a:r>
                <a:rPr lang="en-US" b="true" sz="2071" spc="109">
                  <a:solidFill>
                    <a:srgbClr val="FFFFFF"/>
                  </a:solidFill>
                  <a:latin typeface="Ibarra Real Nova Bold"/>
                  <a:ea typeface="Ibarra Real Nova Bold"/>
                  <a:cs typeface="Ibarra Real Nova Bold"/>
                  <a:sym typeface="Ibarra Real Nova Bold"/>
                </a:rPr>
                <a:t>      AND Q1 DATA OF 2020</a:t>
              </a:r>
            </a:p>
            <a:p>
              <a:pPr algn="l">
                <a:lnSpc>
                  <a:spcPts val="3879"/>
                </a:lnSpc>
                <a:spcBef>
                  <a:spcPct val="0"/>
                </a:spcBef>
              </a:pP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8705702" y="3684328"/>
              <a:ext cx="5545238" cy="31834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31797" indent="-215899" lvl="1">
                <a:lnSpc>
                  <a:spcPts val="279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b="true" sz="1999" spc="105">
                  <a:solidFill>
                    <a:srgbClr val="FFFFFF"/>
                  </a:solidFill>
                  <a:latin typeface="Ibarra Real Nova Bold"/>
                  <a:ea typeface="Ibarra Real Nova Bold"/>
                  <a:cs typeface="Ibarra Real Nova Bold"/>
                  <a:sym typeface="Ibarra Real Nova Bold"/>
                </a:rPr>
                <a:t>STORE COUNT</a:t>
              </a:r>
            </a:p>
            <a:p>
              <a:pPr algn="l">
                <a:lnSpc>
                  <a:spcPts val="2799"/>
                </a:lnSpc>
                <a:spcBef>
                  <a:spcPct val="0"/>
                </a:spcBef>
              </a:pPr>
            </a:p>
            <a:p>
              <a:pPr algn="l" marL="410208" indent="-205104" lvl="1">
                <a:lnSpc>
                  <a:spcPts val="265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b="true" sz="1899" spc="100">
                  <a:solidFill>
                    <a:srgbClr val="FFFFFF"/>
                  </a:solidFill>
                  <a:latin typeface="Ibarra Real Nova Bold"/>
                  <a:ea typeface="Ibarra Real Nova Bold"/>
                  <a:cs typeface="Ibarra Real Nova Bold"/>
                  <a:sym typeface="Ibarra Real Nova Bold"/>
                </a:rPr>
                <a:t>COMPARABLE STORE SALES</a:t>
              </a:r>
            </a:p>
            <a:p>
              <a:pPr algn="l">
                <a:lnSpc>
                  <a:spcPts val="2659"/>
                </a:lnSpc>
                <a:spcBef>
                  <a:spcPct val="0"/>
                </a:spcBef>
              </a:pPr>
            </a:p>
            <a:p>
              <a:pPr algn="l" marL="431797" indent="-215899" lvl="1">
                <a:lnSpc>
                  <a:spcPts val="279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b="true" sz="1999" spc="105">
                  <a:solidFill>
                    <a:srgbClr val="FFFFFF"/>
                  </a:solidFill>
                  <a:latin typeface="Ibarra Real Nova Bold"/>
                  <a:ea typeface="Ibarra Real Nova Bold"/>
                  <a:cs typeface="Ibarra Real Nova Bold"/>
                  <a:sym typeface="Ibarra Real Nova Bold"/>
                </a:rPr>
                <a:t>AVERAGE REVENUE PER STORE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8828825" y="1030643"/>
              <a:ext cx="5298993" cy="16636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140"/>
                </a:lnSpc>
                <a:spcBef>
                  <a:spcPct val="0"/>
                </a:spcBef>
              </a:pPr>
              <a:r>
                <a:rPr lang="en-US" b="true" sz="3671" spc="194">
                  <a:solidFill>
                    <a:srgbClr val="FFFFFF"/>
                  </a:solidFill>
                  <a:latin typeface="Ibarra Real Nova Bold"/>
                  <a:ea typeface="Ibarra Real Nova Bold"/>
                  <a:cs typeface="Ibarra Real Nova Bold"/>
                  <a:sym typeface="Ibarra Real Nova Bold"/>
                </a:rPr>
                <a:t>OPERATIONAL DATA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17363657" y="954517"/>
              <a:ext cx="5551588" cy="17398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385"/>
                </a:lnSpc>
              </a:pPr>
              <a:r>
                <a:rPr lang="en-US" b="true" sz="3846" spc="203">
                  <a:solidFill>
                    <a:srgbClr val="FFFFFF"/>
                  </a:solidFill>
                  <a:latin typeface="Ibarra Real Nova Bold"/>
                  <a:ea typeface="Ibarra Real Nova Bold"/>
                  <a:cs typeface="Ibarra Real Nova Bold"/>
                  <a:sym typeface="Ibarra Real Nova Bold"/>
                </a:rPr>
                <a:t>MARKET </a:t>
              </a:r>
            </a:p>
            <a:p>
              <a:pPr algn="ctr">
                <a:lnSpc>
                  <a:spcPts val="5385"/>
                </a:lnSpc>
                <a:spcBef>
                  <a:spcPct val="0"/>
                </a:spcBef>
              </a:pPr>
              <a:r>
                <a:rPr lang="en-US" b="true" sz="3846" spc="203">
                  <a:solidFill>
                    <a:srgbClr val="FFFFFF"/>
                  </a:solidFill>
                  <a:latin typeface="Ibarra Real Nova Bold"/>
                  <a:ea typeface="Ibarra Real Nova Bold"/>
                  <a:cs typeface="Ibarra Real Nova Bold"/>
                  <a:sym typeface="Ibarra Real Nova Bold"/>
                </a:rPr>
                <a:t>DATA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17154280" y="3693853"/>
              <a:ext cx="5545238" cy="30757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10208" indent="-205104" lvl="1">
                <a:lnSpc>
                  <a:spcPts val="265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b="true" sz="1899" spc="100">
                  <a:solidFill>
                    <a:srgbClr val="FFFFFF"/>
                  </a:solidFill>
                  <a:latin typeface="Ibarra Real Nova Bold"/>
                  <a:ea typeface="Ibarra Real Nova Bold"/>
                  <a:cs typeface="Ibarra Real Nova Bold"/>
                  <a:sym typeface="Ibarra Real Nova Bold"/>
                </a:rPr>
                <a:t>U.S. DEPARTMENT STORE SALES</a:t>
              </a:r>
            </a:p>
            <a:p>
              <a:pPr algn="l">
                <a:lnSpc>
                  <a:spcPts val="2659"/>
                </a:lnSpc>
                <a:spcBef>
                  <a:spcPct val="0"/>
                </a:spcBef>
              </a:pPr>
            </a:p>
            <a:p>
              <a:pPr algn="l" marL="410208" indent="-205104" lvl="1">
                <a:lnSpc>
                  <a:spcPts val="265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b="true" sz="1899" spc="100">
                  <a:solidFill>
                    <a:srgbClr val="FFFFFF"/>
                  </a:solidFill>
                  <a:latin typeface="Ibarra Real Nova Bold"/>
                  <a:ea typeface="Ibarra Real Nova Bold"/>
                  <a:cs typeface="Ibarra Real Nova Bold"/>
                  <a:sym typeface="Ibarra Real Nova Bold"/>
                </a:rPr>
                <a:t>NON-STORE RETAIL SALES </a:t>
              </a:r>
            </a:p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b="true" sz="1899" spc="100">
                  <a:solidFill>
                    <a:srgbClr val="FFFFFF"/>
                  </a:solidFill>
                  <a:latin typeface="Ibarra Real Nova Bold"/>
                  <a:ea typeface="Ibarra Real Nova Bold"/>
                  <a:cs typeface="Ibarra Real Nova Bold"/>
                  <a:sym typeface="Ibarra Real Nova Bold"/>
                </a:rPr>
                <a:t>-</a:t>
              </a:r>
            </a:p>
            <a:p>
              <a:pPr algn="l" marL="410208" indent="-205104" lvl="1">
                <a:lnSpc>
                  <a:spcPts val="265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b="true" sz="1899" spc="100">
                  <a:solidFill>
                    <a:srgbClr val="FFFFFF"/>
                  </a:solidFill>
                  <a:latin typeface="Ibarra Real Nova Bold"/>
                  <a:ea typeface="Ibarra Real Nova Bold"/>
                  <a:cs typeface="Ibarra Real Nova Bold"/>
                  <a:sym typeface="Ibarra Real Nova Bold"/>
                </a:rPr>
                <a:t> E-COMMERCE % OF TOTAL RETAIL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663330" y="-203117"/>
            <a:ext cx="14148855" cy="14490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882"/>
              </a:lnSpc>
            </a:pPr>
            <a:r>
              <a:rPr lang="en-US" sz="8487" b="true">
                <a:solidFill>
                  <a:srgbClr val="75503C"/>
                </a:solidFill>
                <a:latin typeface="Ibarra Real Nova Bold"/>
                <a:ea typeface="Ibarra Real Nova Bold"/>
                <a:cs typeface="Ibarra Real Nova Bold"/>
                <a:sym typeface="Ibarra Real Nova Bold"/>
              </a:rPr>
              <a:t>Three types of data were used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CBFA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015285" y="0"/>
            <a:ext cx="11272715" cy="9258300"/>
            <a:chOff x="0" y="0"/>
            <a:chExt cx="15030287" cy="1234440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9377" t="0" r="9377" b="0"/>
            <a:stretch>
              <a:fillRect/>
            </a:stretch>
          </p:blipFill>
          <p:spPr>
            <a:xfrm flipH="false" flipV="false">
              <a:off x="0" y="0"/>
              <a:ext cx="15030287" cy="12344400"/>
            </a:xfrm>
            <a:prstGeom prst="rect">
              <a:avLst/>
            </a:prstGeom>
          </p:spPr>
        </p:pic>
      </p:grpSp>
      <p:grpSp>
        <p:nvGrpSpPr>
          <p:cNvPr name="Group 4" id="4"/>
          <p:cNvGrpSpPr/>
          <p:nvPr/>
        </p:nvGrpSpPr>
        <p:grpSpPr>
          <a:xfrm rot="0">
            <a:off x="-9525" y="0"/>
            <a:ext cx="7987912" cy="10287000"/>
            <a:chOff x="0" y="0"/>
            <a:chExt cx="5662892" cy="729279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662892" cy="7292791"/>
            </a:xfrm>
            <a:custGeom>
              <a:avLst/>
              <a:gdLst/>
              <a:ahLst/>
              <a:cxnLst/>
              <a:rect r="r" b="b" t="t" l="l"/>
              <a:pathLst>
                <a:path h="7292791" w="5662892">
                  <a:moveTo>
                    <a:pt x="0" y="0"/>
                  </a:moveTo>
                  <a:lnTo>
                    <a:pt x="5662892" y="0"/>
                  </a:lnTo>
                  <a:lnTo>
                    <a:pt x="5662892" y="7292791"/>
                  </a:lnTo>
                  <a:lnTo>
                    <a:pt x="0" y="7292791"/>
                  </a:lnTo>
                  <a:close/>
                </a:path>
              </a:pathLst>
            </a:custGeom>
            <a:solidFill>
              <a:srgbClr val="A67758"/>
            </a:solidFill>
          </p:spPr>
        </p:sp>
      </p:grpSp>
      <p:sp>
        <p:nvSpPr>
          <p:cNvPr name="AutoShape 6" id="6"/>
          <p:cNvSpPr/>
          <p:nvPr/>
        </p:nvSpPr>
        <p:spPr>
          <a:xfrm flipV="true">
            <a:off x="1028700" y="6028839"/>
            <a:ext cx="5986585" cy="0"/>
          </a:xfrm>
          <a:prstGeom prst="line">
            <a:avLst/>
          </a:prstGeom>
          <a:ln cap="flat" w="9525">
            <a:solidFill>
              <a:srgbClr val="F6F3E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0" y="9153060"/>
            <a:ext cx="18288000" cy="1027895"/>
            <a:chOff x="0" y="0"/>
            <a:chExt cx="12964962" cy="72870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964962" cy="728709"/>
            </a:xfrm>
            <a:custGeom>
              <a:avLst/>
              <a:gdLst/>
              <a:ahLst/>
              <a:cxnLst/>
              <a:rect r="r" b="b" t="t" l="l"/>
              <a:pathLst>
                <a:path h="728709" w="12964962">
                  <a:moveTo>
                    <a:pt x="0" y="0"/>
                  </a:moveTo>
                  <a:lnTo>
                    <a:pt x="12964962" y="0"/>
                  </a:lnTo>
                  <a:lnTo>
                    <a:pt x="12964962" y="728709"/>
                  </a:lnTo>
                  <a:lnTo>
                    <a:pt x="0" y="728709"/>
                  </a:lnTo>
                  <a:close/>
                </a:path>
              </a:pathLst>
            </a:custGeom>
            <a:solidFill>
              <a:srgbClr val="F6F3EE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1222796" y="4313504"/>
            <a:ext cx="6135845" cy="1094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39"/>
              </a:lnSpc>
            </a:pPr>
            <a:r>
              <a:rPr lang="en-US" sz="6799" spc="-135">
                <a:solidFill>
                  <a:srgbClr val="F6F3EE"/>
                </a:solidFill>
                <a:latin typeface="Ibarra Real Nova"/>
                <a:ea typeface="Ibarra Real Nova"/>
                <a:cs typeface="Ibarra Real Nova"/>
                <a:sym typeface="Ibarra Real Nova"/>
              </a:rPr>
              <a:t>ANALYSIS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469998"/>
            <a:ext cx="2100033" cy="207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b="true" sz="1200" spc="63">
                <a:solidFill>
                  <a:srgbClr val="F6F3EE"/>
                </a:solidFill>
                <a:latin typeface="Poppins Bold"/>
                <a:ea typeface="Poppins Bold"/>
                <a:cs typeface="Poppins Bold"/>
                <a:sym typeface="Poppins Bold"/>
              </a:rPr>
              <a:t>PRESENTED BY : </a:t>
            </a:r>
          </a:p>
        </p:txBody>
      </p:sp>
      <p:sp>
        <p:nvSpPr>
          <p:cNvPr name="AutoShape 3" id="3"/>
          <p:cNvSpPr/>
          <p:nvPr/>
        </p:nvSpPr>
        <p:spPr>
          <a:xfrm rot="0">
            <a:off x="2695162" y="588108"/>
            <a:ext cx="1780658" cy="0"/>
          </a:xfrm>
          <a:prstGeom prst="line">
            <a:avLst/>
          </a:prstGeom>
          <a:ln cap="flat" w="9525">
            <a:solidFill>
              <a:srgbClr val="F6F3E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431508" y="2254212"/>
            <a:ext cx="11124133" cy="5778576"/>
          </a:xfrm>
          <a:custGeom>
            <a:avLst/>
            <a:gdLst/>
            <a:ahLst/>
            <a:cxnLst/>
            <a:rect r="r" b="b" t="t" l="l"/>
            <a:pathLst>
              <a:path h="5778576" w="11124133">
                <a:moveTo>
                  <a:pt x="0" y="0"/>
                </a:moveTo>
                <a:lnTo>
                  <a:pt x="11124132" y="0"/>
                </a:lnTo>
                <a:lnTo>
                  <a:pt x="11124132" y="5778576"/>
                </a:lnTo>
                <a:lnTo>
                  <a:pt x="0" y="57785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555640" y="1533805"/>
            <a:ext cx="6732360" cy="2801166"/>
          </a:xfrm>
          <a:custGeom>
            <a:avLst/>
            <a:gdLst/>
            <a:ahLst/>
            <a:cxnLst/>
            <a:rect r="r" b="b" t="t" l="l"/>
            <a:pathLst>
              <a:path h="2801166" w="6732360">
                <a:moveTo>
                  <a:pt x="0" y="0"/>
                </a:moveTo>
                <a:lnTo>
                  <a:pt x="6732360" y="0"/>
                </a:lnTo>
                <a:lnTo>
                  <a:pt x="6732360" y="2801166"/>
                </a:lnTo>
                <a:lnTo>
                  <a:pt x="0" y="28011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609" t="-7486" r="0" b="-55785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555640" y="4334971"/>
            <a:ext cx="6732360" cy="2772214"/>
          </a:xfrm>
          <a:custGeom>
            <a:avLst/>
            <a:gdLst/>
            <a:ahLst/>
            <a:cxnLst/>
            <a:rect r="r" b="b" t="t" l="l"/>
            <a:pathLst>
              <a:path h="2772214" w="6732360">
                <a:moveTo>
                  <a:pt x="0" y="0"/>
                </a:moveTo>
                <a:lnTo>
                  <a:pt x="6732360" y="0"/>
                </a:lnTo>
                <a:lnTo>
                  <a:pt x="6732360" y="2772213"/>
                </a:lnTo>
                <a:lnTo>
                  <a:pt x="0" y="27722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7609" t="-7564" r="0" b="-57412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555640" y="7107184"/>
            <a:ext cx="6732360" cy="3179816"/>
          </a:xfrm>
          <a:custGeom>
            <a:avLst/>
            <a:gdLst/>
            <a:ahLst/>
            <a:cxnLst/>
            <a:rect r="r" b="b" t="t" l="l"/>
            <a:pathLst>
              <a:path h="3179816" w="6732360">
                <a:moveTo>
                  <a:pt x="0" y="0"/>
                </a:moveTo>
                <a:lnTo>
                  <a:pt x="6732360" y="0"/>
                </a:lnTo>
                <a:lnTo>
                  <a:pt x="6732360" y="3179816"/>
                </a:lnTo>
                <a:lnTo>
                  <a:pt x="0" y="31798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609" t="-6595" r="0" b="-37234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555640" y="7818687"/>
            <a:ext cx="2365180" cy="1998577"/>
          </a:xfrm>
          <a:custGeom>
            <a:avLst/>
            <a:gdLst/>
            <a:ahLst/>
            <a:cxnLst/>
            <a:rect r="r" b="b" t="t" l="l"/>
            <a:pathLst>
              <a:path h="1998577" w="2365180">
                <a:moveTo>
                  <a:pt x="0" y="0"/>
                </a:moveTo>
                <a:lnTo>
                  <a:pt x="2365180" y="0"/>
                </a:lnTo>
                <a:lnTo>
                  <a:pt x="2365180" y="1998577"/>
                </a:lnTo>
                <a:lnTo>
                  <a:pt x="0" y="199857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096623" y="469998"/>
            <a:ext cx="1753095" cy="207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b="true" sz="1200" spc="63">
                <a:solidFill>
                  <a:srgbClr val="F6F3EE"/>
                </a:solidFill>
                <a:latin typeface="Poppins Bold"/>
                <a:ea typeface="Poppins Bold"/>
                <a:cs typeface="Poppins Bold"/>
                <a:sym typeface="Poppins Bold"/>
              </a:rPr>
              <a:t>NEIL TRAN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59487" y="248046"/>
            <a:ext cx="16969026" cy="2358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39"/>
              </a:lnSpc>
            </a:pPr>
            <a:r>
              <a:rPr lang="en-US" sz="4599" b="true">
                <a:solidFill>
                  <a:srgbClr val="77390F"/>
                </a:solidFill>
                <a:latin typeface="Ibarra Real Nova Bold"/>
                <a:ea typeface="Ibarra Real Nova Bold"/>
                <a:cs typeface="Ibarra Real Nova Bold"/>
                <a:sym typeface="Ibarra Real Nova Bold"/>
              </a:rPr>
              <a:t>The Fair &amp; Square Strategy Declined the Demand in a Single Year</a:t>
            </a:r>
          </a:p>
          <a:p>
            <a:pPr algn="ctr">
              <a:lnSpc>
                <a:spcPts val="12880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1555640" y="1956170"/>
            <a:ext cx="6732360" cy="1889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>
                <a:solidFill>
                  <a:srgbClr val="F6F3EE"/>
                </a:solidFill>
                <a:latin typeface="Ibarra Real Nova"/>
                <a:ea typeface="Ibarra Real Nova"/>
                <a:cs typeface="Ibarra Real Nova"/>
                <a:sym typeface="Ibarra Real Nova"/>
              </a:rPr>
              <a:t>Net sales fell from $17,759M</a:t>
            </a:r>
          </a:p>
          <a:p>
            <a:pPr algn="ctr">
              <a:lnSpc>
                <a:spcPts val="5040"/>
              </a:lnSpc>
            </a:pPr>
            <a:r>
              <a:rPr lang="en-US" sz="3600">
                <a:solidFill>
                  <a:srgbClr val="F6F3EE"/>
                </a:solidFill>
                <a:latin typeface="Ibarra Real Nova"/>
                <a:ea typeface="Ibarra Real Nova"/>
                <a:cs typeface="Ibarra Real Nova"/>
                <a:sym typeface="Ibarra Real Nova"/>
              </a:rPr>
              <a:t>in FY2010 to $10,716M</a:t>
            </a:r>
          </a:p>
          <a:p>
            <a:pPr algn="ctr">
              <a:lnSpc>
                <a:spcPts val="5040"/>
              </a:lnSpc>
            </a:pPr>
            <a:r>
              <a:rPr lang="en-US" sz="3600">
                <a:solidFill>
                  <a:srgbClr val="F6F3EE"/>
                </a:solidFill>
                <a:latin typeface="Ibarra Real Nova"/>
                <a:ea typeface="Ibarra Real Nova"/>
                <a:cs typeface="Ibarra Real Nova"/>
                <a:sym typeface="Ibarra Real Nova"/>
              </a:rPr>
              <a:t> in FY2019</a:t>
            </a:r>
            <a:r>
              <a:rPr lang="en-US" sz="3600" b="true">
                <a:solidFill>
                  <a:srgbClr val="000000"/>
                </a:solidFill>
                <a:latin typeface="Ibarra Real Nova Bold"/>
                <a:ea typeface="Ibarra Real Nova Bold"/>
                <a:cs typeface="Ibarra Real Nova Bold"/>
                <a:sym typeface="Ibarra Real Nova Bold"/>
              </a:rPr>
              <a:t> </a:t>
            </a:r>
            <a:r>
              <a:rPr lang="en-US" sz="3600">
                <a:solidFill>
                  <a:srgbClr val="FFFFFF"/>
                </a:solidFill>
                <a:latin typeface="Ibarra Real Nova"/>
                <a:ea typeface="Ibarra Real Nova"/>
                <a:cs typeface="Ibarra Real Nova"/>
                <a:sym typeface="Ibarra Real Nova"/>
              </a:rPr>
              <a:t>(-39.65%)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555640" y="4423772"/>
            <a:ext cx="6732360" cy="2527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>
                <a:solidFill>
                  <a:srgbClr val="77390F"/>
                </a:solidFill>
                <a:latin typeface="Ibarra Real Nova"/>
                <a:ea typeface="Ibarra Real Nova"/>
                <a:cs typeface="Ibarra Real Nova"/>
                <a:sym typeface="Ibarra Real Nova"/>
              </a:rPr>
              <a:t>The biggest revenue decline occurred in FY2012 after the Fair &amp; Square pricing strategy was introduced.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712534" y="7713912"/>
            <a:ext cx="4575466" cy="232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19"/>
              </a:lnSpc>
            </a:pPr>
            <a:r>
              <a:rPr lang="en-US" sz="5799" b="true">
                <a:solidFill>
                  <a:srgbClr val="FFFFFF"/>
                </a:solidFill>
                <a:latin typeface="Ibarra Real Nova Bold"/>
                <a:ea typeface="Ibarra Real Nova Bold"/>
                <a:cs typeface="Ibarra Real Nova Bold"/>
                <a:sym typeface="Ibarra Real Nova Bold"/>
              </a:rPr>
              <a:t>$4,275M</a:t>
            </a:r>
          </a:p>
          <a:p>
            <a:pPr algn="ctr">
              <a:lnSpc>
                <a:spcPts val="5180"/>
              </a:lnSpc>
            </a:pPr>
            <a:r>
              <a:rPr lang="en-US" sz="3700" b="true">
                <a:solidFill>
                  <a:srgbClr val="FFFFFF"/>
                </a:solidFill>
                <a:latin typeface="Ibarra Real Nova Bold"/>
                <a:ea typeface="Ibarra Real Nova Bold"/>
                <a:cs typeface="Ibarra Real Nova Bold"/>
                <a:sym typeface="Ibarra Real Nova Bold"/>
              </a:rPr>
              <a:t>REVENUE LOST IN FY2012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469998"/>
            <a:ext cx="2100033" cy="207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b="true" sz="1200" spc="63">
                <a:solidFill>
                  <a:srgbClr val="F6F3EE"/>
                </a:solidFill>
                <a:latin typeface="Poppins Bold"/>
                <a:ea typeface="Poppins Bold"/>
                <a:cs typeface="Poppins Bold"/>
                <a:sym typeface="Poppins Bold"/>
              </a:rPr>
              <a:t>PRESENTED BY : </a:t>
            </a:r>
          </a:p>
        </p:txBody>
      </p:sp>
      <p:sp>
        <p:nvSpPr>
          <p:cNvPr name="AutoShape 3" id="3"/>
          <p:cNvSpPr/>
          <p:nvPr/>
        </p:nvSpPr>
        <p:spPr>
          <a:xfrm rot="0">
            <a:off x="2695162" y="588108"/>
            <a:ext cx="1780658" cy="0"/>
          </a:xfrm>
          <a:prstGeom prst="line">
            <a:avLst/>
          </a:prstGeom>
          <a:ln cap="flat" w="9525">
            <a:solidFill>
              <a:srgbClr val="F6F3E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1555640" y="1533805"/>
            <a:ext cx="6732360" cy="2801166"/>
          </a:xfrm>
          <a:custGeom>
            <a:avLst/>
            <a:gdLst/>
            <a:ahLst/>
            <a:cxnLst/>
            <a:rect r="r" b="b" t="t" l="l"/>
            <a:pathLst>
              <a:path h="2801166" w="6732360">
                <a:moveTo>
                  <a:pt x="0" y="0"/>
                </a:moveTo>
                <a:lnTo>
                  <a:pt x="6732360" y="0"/>
                </a:lnTo>
                <a:lnTo>
                  <a:pt x="6732360" y="2801166"/>
                </a:lnTo>
                <a:lnTo>
                  <a:pt x="0" y="28011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609" t="-7486" r="0" b="-55785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555640" y="4334971"/>
            <a:ext cx="6732360" cy="2772214"/>
          </a:xfrm>
          <a:custGeom>
            <a:avLst/>
            <a:gdLst/>
            <a:ahLst/>
            <a:cxnLst/>
            <a:rect r="r" b="b" t="t" l="l"/>
            <a:pathLst>
              <a:path h="2772214" w="6732360">
                <a:moveTo>
                  <a:pt x="0" y="0"/>
                </a:moveTo>
                <a:lnTo>
                  <a:pt x="6732360" y="0"/>
                </a:lnTo>
                <a:lnTo>
                  <a:pt x="6732360" y="2772213"/>
                </a:lnTo>
                <a:lnTo>
                  <a:pt x="0" y="27722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609" t="-7564" r="0" b="-57412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555640" y="7107184"/>
            <a:ext cx="6732360" cy="3179816"/>
          </a:xfrm>
          <a:custGeom>
            <a:avLst/>
            <a:gdLst/>
            <a:ahLst/>
            <a:cxnLst/>
            <a:rect r="r" b="b" t="t" l="l"/>
            <a:pathLst>
              <a:path h="3179816" w="6732360">
                <a:moveTo>
                  <a:pt x="0" y="0"/>
                </a:moveTo>
                <a:lnTo>
                  <a:pt x="6732360" y="0"/>
                </a:lnTo>
                <a:lnTo>
                  <a:pt x="6732360" y="3179816"/>
                </a:lnTo>
                <a:lnTo>
                  <a:pt x="0" y="31798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609" t="-6595" r="0" b="-37234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68343" y="2678667"/>
            <a:ext cx="10585718" cy="6139309"/>
          </a:xfrm>
          <a:custGeom>
            <a:avLst/>
            <a:gdLst/>
            <a:ahLst/>
            <a:cxnLst/>
            <a:rect r="r" b="b" t="t" l="l"/>
            <a:pathLst>
              <a:path h="6139309" w="10585718">
                <a:moveTo>
                  <a:pt x="0" y="0"/>
                </a:moveTo>
                <a:lnTo>
                  <a:pt x="10585718" y="0"/>
                </a:lnTo>
                <a:lnTo>
                  <a:pt x="10585718" y="6139308"/>
                </a:lnTo>
                <a:lnTo>
                  <a:pt x="0" y="61393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096623" y="469998"/>
            <a:ext cx="1753095" cy="207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b="true" sz="1200" spc="63">
                <a:solidFill>
                  <a:srgbClr val="F6F3EE"/>
                </a:solidFill>
                <a:latin typeface="Poppins Bold"/>
                <a:ea typeface="Poppins Bold"/>
                <a:cs typeface="Poppins Bold"/>
                <a:sym typeface="Poppins Bold"/>
              </a:rPr>
              <a:t>NEIL TRAN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89340" y="248046"/>
            <a:ext cx="15509320" cy="854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99"/>
              </a:lnSpc>
            </a:pPr>
            <a:r>
              <a:rPr lang="en-US" sz="4999" b="true">
                <a:solidFill>
                  <a:srgbClr val="77390F"/>
                </a:solidFill>
                <a:latin typeface="Ibarra Real Nova Bold"/>
                <a:ea typeface="Ibarra Real Nova Bold"/>
                <a:cs typeface="Ibarra Real Nova Bold"/>
                <a:sym typeface="Ibarra Real Nova Bold"/>
              </a:rPr>
              <a:t>Comparable Store Sales Confirmed Customer Rejection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432716" y="1836323"/>
            <a:ext cx="4978209" cy="2153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39"/>
              </a:lnSpc>
            </a:pPr>
            <a:r>
              <a:rPr lang="en-US" sz="4099">
                <a:solidFill>
                  <a:srgbClr val="F6F3EE"/>
                </a:solidFill>
                <a:latin typeface="Ibarra Real Nova"/>
                <a:ea typeface="Ibarra Real Nova"/>
                <a:cs typeface="Ibarra Real Nova"/>
                <a:sym typeface="Ibarra Real Nova"/>
              </a:rPr>
              <a:t>Comparable store sales fell by 25.1% in FY2012.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672098" y="4742860"/>
            <a:ext cx="6732360" cy="1889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>
                <a:solidFill>
                  <a:srgbClr val="77390F"/>
                </a:solidFill>
                <a:latin typeface="Ibarra Real Nova"/>
                <a:ea typeface="Ibarra Real Nova"/>
                <a:cs typeface="Ibarra Real Nova"/>
                <a:sym typeface="Ibarra Real Nova"/>
              </a:rPr>
              <a:t>Sales recovered in FY2014 &amp; 2015, but the company was not able to sustain it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876335" y="7421509"/>
            <a:ext cx="6323885" cy="24382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65"/>
              </a:lnSpc>
            </a:pPr>
            <a:r>
              <a:rPr lang="en-US" sz="3475" b="true">
                <a:solidFill>
                  <a:srgbClr val="F6F3EE"/>
                </a:solidFill>
                <a:latin typeface="Ibarra Real Nova Bold"/>
                <a:ea typeface="Ibarra Real Nova Bold"/>
                <a:cs typeface="Ibarra Real Nova Bold"/>
                <a:sym typeface="Ibarra Real Nova Bold"/>
              </a:rPr>
              <a:t>The problem was not temporary. JCPenney failed to rebuild the customer trust  after the pricing shock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469998"/>
            <a:ext cx="2100033" cy="207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b="true" sz="1200" spc="63">
                <a:solidFill>
                  <a:srgbClr val="F6F3EE"/>
                </a:solidFill>
                <a:latin typeface="Poppins Bold"/>
                <a:ea typeface="Poppins Bold"/>
                <a:cs typeface="Poppins Bold"/>
                <a:sym typeface="Poppins Bold"/>
              </a:rPr>
              <a:t>PRESENTED BY : </a:t>
            </a:r>
          </a:p>
        </p:txBody>
      </p:sp>
      <p:sp>
        <p:nvSpPr>
          <p:cNvPr name="AutoShape 3" id="3"/>
          <p:cNvSpPr/>
          <p:nvPr/>
        </p:nvSpPr>
        <p:spPr>
          <a:xfrm rot="0">
            <a:off x="2695162" y="588108"/>
            <a:ext cx="1780658" cy="0"/>
          </a:xfrm>
          <a:prstGeom prst="line">
            <a:avLst/>
          </a:prstGeom>
          <a:ln cap="flat" w="9525">
            <a:solidFill>
              <a:srgbClr val="F6F3E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46068" y="7795785"/>
            <a:ext cx="5703649" cy="2801166"/>
          </a:xfrm>
          <a:custGeom>
            <a:avLst/>
            <a:gdLst/>
            <a:ahLst/>
            <a:cxnLst/>
            <a:rect r="r" b="b" t="t" l="l"/>
            <a:pathLst>
              <a:path h="2801166" w="5703649">
                <a:moveTo>
                  <a:pt x="0" y="0"/>
                </a:moveTo>
                <a:lnTo>
                  <a:pt x="5703649" y="0"/>
                </a:lnTo>
                <a:lnTo>
                  <a:pt x="5703649" y="2801165"/>
                </a:lnTo>
                <a:lnTo>
                  <a:pt x="0" y="28011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7017" t="-7486" r="0" b="-55785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849717" y="7795785"/>
            <a:ext cx="5703649" cy="2772214"/>
          </a:xfrm>
          <a:custGeom>
            <a:avLst/>
            <a:gdLst/>
            <a:ahLst/>
            <a:cxnLst/>
            <a:rect r="r" b="b" t="t" l="l"/>
            <a:pathLst>
              <a:path h="2772214" w="5703649">
                <a:moveTo>
                  <a:pt x="0" y="0"/>
                </a:moveTo>
                <a:lnTo>
                  <a:pt x="5703650" y="0"/>
                </a:lnTo>
                <a:lnTo>
                  <a:pt x="5703650" y="2772213"/>
                </a:lnTo>
                <a:lnTo>
                  <a:pt x="0" y="27722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7017" t="-7564" r="0" b="-57412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551287" y="7795785"/>
            <a:ext cx="6736713" cy="2631071"/>
          </a:xfrm>
          <a:custGeom>
            <a:avLst/>
            <a:gdLst/>
            <a:ahLst/>
            <a:cxnLst/>
            <a:rect r="r" b="b" t="t" l="l"/>
            <a:pathLst>
              <a:path h="2631071" w="6736713">
                <a:moveTo>
                  <a:pt x="0" y="0"/>
                </a:moveTo>
                <a:lnTo>
                  <a:pt x="6736713" y="0"/>
                </a:lnTo>
                <a:lnTo>
                  <a:pt x="6736713" y="2631071"/>
                </a:lnTo>
                <a:lnTo>
                  <a:pt x="0" y="26310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7017" t="-43104" r="0" b="-62206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48067" y="1931319"/>
            <a:ext cx="8055505" cy="5552307"/>
          </a:xfrm>
          <a:custGeom>
            <a:avLst/>
            <a:gdLst/>
            <a:ahLst/>
            <a:cxnLst/>
            <a:rect r="r" b="b" t="t" l="l"/>
            <a:pathLst>
              <a:path h="5552307" w="8055505">
                <a:moveTo>
                  <a:pt x="0" y="0"/>
                </a:moveTo>
                <a:lnTo>
                  <a:pt x="8055506" y="0"/>
                </a:lnTo>
                <a:lnTo>
                  <a:pt x="8055506" y="5552307"/>
                </a:lnTo>
                <a:lnTo>
                  <a:pt x="0" y="55523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441473" y="1968291"/>
            <a:ext cx="9201820" cy="5478364"/>
          </a:xfrm>
          <a:custGeom>
            <a:avLst/>
            <a:gdLst/>
            <a:ahLst/>
            <a:cxnLst/>
            <a:rect r="r" b="b" t="t" l="l"/>
            <a:pathLst>
              <a:path h="5478364" w="9201820">
                <a:moveTo>
                  <a:pt x="0" y="0"/>
                </a:moveTo>
                <a:lnTo>
                  <a:pt x="9201820" y="0"/>
                </a:lnTo>
                <a:lnTo>
                  <a:pt x="9201820" y="5478364"/>
                </a:lnTo>
                <a:lnTo>
                  <a:pt x="0" y="547836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096623" y="469998"/>
            <a:ext cx="1753095" cy="207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b="true" sz="1200" spc="63">
                <a:solidFill>
                  <a:srgbClr val="F6F3EE"/>
                </a:solidFill>
                <a:latin typeface="Poppins Bold"/>
                <a:ea typeface="Poppins Bold"/>
                <a:cs typeface="Poppins Bold"/>
                <a:sym typeface="Poppins Bold"/>
              </a:rPr>
              <a:t>NEIL TRAN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0" y="248046"/>
            <a:ext cx="18288000" cy="1597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39"/>
              </a:lnSpc>
            </a:pPr>
            <a:r>
              <a:rPr lang="en-US" sz="4599" b="true">
                <a:solidFill>
                  <a:srgbClr val="77390F"/>
                </a:solidFill>
                <a:latin typeface="Ibarra Real Nova Bold"/>
                <a:ea typeface="Ibarra Real Nova Bold"/>
                <a:cs typeface="Ibarra Real Nova Bold"/>
                <a:sym typeface="Ibarra Real Nova Bold"/>
              </a:rPr>
              <a:t>The market was moving online - JCPenney was slow to adapt to the change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92584" y="7792176"/>
            <a:ext cx="5210617" cy="2291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56"/>
              </a:lnSpc>
            </a:pPr>
            <a:r>
              <a:rPr lang="en-US" sz="3254">
                <a:solidFill>
                  <a:srgbClr val="F6F3EE"/>
                </a:solidFill>
                <a:latin typeface="Ibarra Real Nova"/>
                <a:ea typeface="Ibarra Real Nova"/>
                <a:cs typeface="Ibarra Real Nova"/>
                <a:sym typeface="Ibarra Real Nova"/>
              </a:rPr>
              <a:t>Department stores were declining whereas non-store retail and ecommerce were growing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299472" y="7862261"/>
            <a:ext cx="4804140" cy="2302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97"/>
              </a:lnSpc>
            </a:pPr>
            <a:r>
              <a:rPr lang="en-US" sz="3284">
                <a:solidFill>
                  <a:srgbClr val="77390F"/>
                </a:solidFill>
                <a:latin typeface="Ibarra Real Nova"/>
                <a:ea typeface="Ibarra Real Nova"/>
                <a:cs typeface="Ibarra Real Nova"/>
                <a:sym typeface="Ibarra Real Nova"/>
              </a:rPr>
              <a:t>E-commerce share more than doubled from 4.45% to 10.58% between FY2010- FY2019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001042" y="7848732"/>
            <a:ext cx="5411605" cy="24382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65"/>
              </a:lnSpc>
            </a:pPr>
            <a:r>
              <a:rPr lang="en-US" sz="3475" b="true">
                <a:solidFill>
                  <a:srgbClr val="F6F3EE"/>
                </a:solidFill>
                <a:latin typeface="Ibarra Real Nova Bold"/>
                <a:ea typeface="Ibarra Real Nova Bold"/>
                <a:cs typeface="Ibarra Real Nova Bold"/>
                <a:sym typeface="Ibarra Real Nova Bold"/>
              </a:rPr>
              <a:t>JCPenney ignored the digital shift, which was one of the reasons for declining sales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07038" y="-121689"/>
            <a:ext cx="19228767" cy="10919364"/>
            <a:chOff x="0" y="0"/>
            <a:chExt cx="25638356" cy="14559153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1780984" y="798441"/>
              <a:ext cx="2800044" cy="2672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79"/>
                </a:lnSpc>
              </a:pPr>
              <a:r>
                <a:rPr lang="en-US" b="true" sz="1200" spc="63">
                  <a:solidFill>
                    <a:srgbClr val="F6F3EE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PRESENTED BY : </a:t>
              </a:r>
            </a:p>
          </p:txBody>
        </p:sp>
        <p:sp>
          <p:nvSpPr>
            <p:cNvPr name="AutoShape 4" id="4"/>
            <p:cNvSpPr/>
            <p:nvPr/>
          </p:nvSpPr>
          <p:spPr>
            <a:xfrm rot="0">
              <a:off x="4002933" y="946396"/>
              <a:ext cx="2374211" cy="0"/>
            </a:xfrm>
            <a:prstGeom prst="line">
              <a:avLst/>
            </a:prstGeom>
            <a:ln cap="flat" w="12700">
              <a:solidFill>
                <a:srgbClr val="F6F3EE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10684207"/>
              <a:ext cx="25638356" cy="3874946"/>
            </a:xfrm>
            <a:custGeom>
              <a:avLst/>
              <a:gdLst/>
              <a:ahLst/>
              <a:cxnLst/>
              <a:rect r="r" b="b" t="t" l="l"/>
              <a:pathLst>
                <a:path h="3874946" w="25638356">
                  <a:moveTo>
                    <a:pt x="0" y="0"/>
                  </a:moveTo>
                  <a:lnTo>
                    <a:pt x="25638356" y="0"/>
                  </a:lnTo>
                  <a:lnTo>
                    <a:pt x="25638356" y="3874946"/>
                  </a:lnTo>
                  <a:lnTo>
                    <a:pt x="0" y="3874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7609" t="-131570" r="0" b="-217906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6128294" y="1456666"/>
              <a:ext cx="12908137" cy="9064852"/>
            </a:xfrm>
            <a:custGeom>
              <a:avLst/>
              <a:gdLst/>
              <a:ahLst/>
              <a:cxnLst/>
              <a:rect r="r" b="b" t="t" l="l"/>
              <a:pathLst>
                <a:path h="9064852" w="12908137">
                  <a:moveTo>
                    <a:pt x="0" y="0"/>
                  </a:moveTo>
                  <a:lnTo>
                    <a:pt x="12908137" y="0"/>
                  </a:lnTo>
                  <a:lnTo>
                    <a:pt x="12908137" y="9064852"/>
                  </a:lnTo>
                  <a:lnTo>
                    <a:pt x="0" y="90648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 rot="0">
              <a:off x="5871547" y="798441"/>
              <a:ext cx="2337460" cy="2672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679"/>
                </a:lnSpc>
              </a:pPr>
              <a:r>
                <a:rPr lang="en-US" b="true" sz="1200" spc="63">
                  <a:solidFill>
                    <a:srgbClr val="F6F3EE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NEIL TRAN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3586158" y="-95250"/>
              <a:ext cx="17962990" cy="34893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009"/>
                </a:lnSpc>
              </a:pPr>
              <a:r>
                <a:rPr lang="en-US" sz="5006" b="true">
                  <a:solidFill>
                    <a:srgbClr val="77390F"/>
                  </a:solidFill>
                  <a:latin typeface="Ibarra Real Nova Bold"/>
                  <a:ea typeface="Ibarra Real Nova Bold"/>
                  <a:cs typeface="Ibarra Real Nova Bold"/>
                  <a:sym typeface="Ibarra Real Nova Bold"/>
                </a:rPr>
                <a:t> Debt Became Dangerous as Sales Declined</a:t>
              </a:r>
            </a:p>
            <a:p>
              <a:pPr algn="ctr">
                <a:lnSpc>
                  <a:spcPts val="14656"/>
                </a:lnSpc>
              </a:pP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5219341" y="8134839"/>
              <a:ext cx="14696624" cy="55393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836"/>
                </a:lnSpc>
              </a:pPr>
            </a:p>
            <a:p>
              <a:pPr algn="ctr">
                <a:lnSpc>
                  <a:spcPts val="4836"/>
                </a:lnSpc>
              </a:pPr>
            </a:p>
            <a:p>
              <a:pPr algn="ctr">
                <a:lnSpc>
                  <a:spcPts val="4836"/>
                </a:lnSpc>
              </a:pPr>
            </a:p>
            <a:p>
              <a:pPr algn="ctr">
                <a:lnSpc>
                  <a:spcPts val="4696"/>
                </a:lnSpc>
              </a:pPr>
              <a:r>
                <a:rPr lang="en-US" sz="3354">
                  <a:solidFill>
                    <a:srgbClr val="FFFFFF"/>
                  </a:solidFill>
                  <a:latin typeface="Ibarra Real Nova"/>
                  <a:ea typeface="Ibarra Real Nova"/>
                  <a:cs typeface="Ibarra Real Nova"/>
                  <a:sym typeface="Ibarra Real Nova"/>
                </a:rPr>
                <a:t>JCPenney failed to restore sustainable profitability after 2010.</a:t>
              </a:r>
            </a:p>
            <a:p>
              <a:pPr algn="ctr">
                <a:lnSpc>
                  <a:spcPts val="4696"/>
                </a:lnSpc>
              </a:pPr>
              <a:r>
                <a:rPr lang="en-US" sz="3354">
                  <a:solidFill>
                    <a:srgbClr val="FFFFFF"/>
                  </a:solidFill>
                  <a:latin typeface="Ibarra Real Nova"/>
                  <a:ea typeface="Ibarra Real Nova"/>
                  <a:cs typeface="Ibarra Real Nova"/>
                  <a:sym typeface="Ibarra Real Nova"/>
                </a:rPr>
                <a:t>Debt remained high and sales also declined which made the recovery very difficult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70383" y="-121689"/>
            <a:ext cx="19228767" cy="10833094"/>
            <a:chOff x="0" y="0"/>
            <a:chExt cx="25638356" cy="14444126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1998778" y="798441"/>
              <a:ext cx="2800044" cy="2672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79"/>
                </a:lnSpc>
              </a:pPr>
              <a:r>
                <a:rPr lang="en-US" b="true" sz="1200" spc="63">
                  <a:solidFill>
                    <a:srgbClr val="F6F3EE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PRESENTED BY : </a:t>
              </a:r>
            </a:p>
          </p:txBody>
        </p:sp>
        <p:sp>
          <p:nvSpPr>
            <p:cNvPr name="AutoShape 4" id="4"/>
            <p:cNvSpPr/>
            <p:nvPr/>
          </p:nvSpPr>
          <p:spPr>
            <a:xfrm rot="0">
              <a:off x="4220727" y="946396"/>
              <a:ext cx="2374211" cy="0"/>
            </a:xfrm>
            <a:prstGeom prst="line">
              <a:avLst/>
            </a:prstGeom>
            <a:ln cap="flat" w="12700">
              <a:solidFill>
                <a:srgbClr val="F6F3EE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10528047"/>
              <a:ext cx="25638356" cy="3916078"/>
            </a:xfrm>
            <a:custGeom>
              <a:avLst/>
              <a:gdLst/>
              <a:ahLst/>
              <a:cxnLst/>
              <a:rect r="r" b="b" t="t" l="l"/>
              <a:pathLst>
                <a:path h="3916078" w="25638356">
                  <a:moveTo>
                    <a:pt x="0" y="0"/>
                  </a:moveTo>
                  <a:lnTo>
                    <a:pt x="25638356" y="0"/>
                  </a:lnTo>
                  <a:lnTo>
                    <a:pt x="25638356" y="3916079"/>
                  </a:lnTo>
                  <a:lnTo>
                    <a:pt x="0" y="3916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7609" t="-129138" r="0" b="-215617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5829656" y="1533853"/>
              <a:ext cx="12863109" cy="8723023"/>
            </a:xfrm>
            <a:custGeom>
              <a:avLst/>
              <a:gdLst/>
              <a:ahLst/>
              <a:cxnLst/>
              <a:rect r="r" b="b" t="t" l="l"/>
              <a:pathLst>
                <a:path h="8723023" w="12863109">
                  <a:moveTo>
                    <a:pt x="0" y="0"/>
                  </a:moveTo>
                  <a:lnTo>
                    <a:pt x="12863109" y="0"/>
                  </a:lnTo>
                  <a:lnTo>
                    <a:pt x="12863109" y="8723023"/>
                  </a:lnTo>
                  <a:lnTo>
                    <a:pt x="0" y="87230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921" r="0" b="-92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 rot="0">
              <a:off x="6089341" y="798441"/>
              <a:ext cx="2337460" cy="2672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679"/>
                </a:lnSpc>
              </a:pPr>
              <a:r>
                <a:rPr lang="en-US" b="true" sz="1200" spc="63">
                  <a:solidFill>
                    <a:srgbClr val="F6F3EE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NEIL TRAN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3803952" y="-95250"/>
              <a:ext cx="17962990" cy="34893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009"/>
                </a:lnSpc>
              </a:pPr>
              <a:r>
                <a:rPr lang="en-US" sz="5006" b="true">
                  <a:solidFill>
                    <a:srgbClr val="77390F"/>
                  </a:solidFill>
                  <a:latin typeface="Ibarra Real Nova Bold"/>
                  <a:ea typeface="Ibarra Real Nova Bold"/>
                  <a:cs typeface="Ibarra Real Nova Bold"/>
                  <a:sym typeface="Ibarra Real Nova Bold"/>
                </a:rPr>
                <a:t> Store closure did not fix the business</a:t>
              </a:r>
            </a:p>
            <a:p>
              <a:pPr algn="ctr">
                <a:lnSpc>
                  <a:spcPts val="14656"/>
                </a:lnSpc>
              </a:pP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2337011" y="10967245"/>
              <a:ext cx="18728745" cy="23884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821"/>
                </a:lnSpc>
              </a:pPr>
              <a:r>
                <a:rPr lang="en-US" sz="3443">
                  <a:solidFill>
                    <a:srgbClr val="FFFFFF"/>
                  </a:solidFill>
                  <a:latin typeface="Ibarra Real Nova"/>
                  <a:ea typeface="Ibarra Real Nova"/>
                  <a:cs typeface="Ibarra Real Nova"/>
                  <a:sym typeface="Ibarra Real Nova"/>
                </a:rPr>
                <a:t>JCPenney closed 260 stores between FY2010 to FY2019 </a:t>
              </a:r>
            </a:p>
            <a:p>
              <a:pPr algn="ctr">
                <a:lnSpc>
                  <a:spcPts val="4821"/>
                </a:lnSpc>
              </a:pPr>
            </a:p>
            <a:p>
              <a:pPr algn="ctr">
                <a:lnSpc>
                  <a:spcPts val="4821"/>
                </a:lnSpc>
              </a:pPr>
              <a:r>
                <a:rPr lang="en-US" sz="3443">
                  <a:solidFill>
                    <a:srgbClr val="FFFFFF"/>
                  </a:solidFill>
                  <a:latin typeface="Ibarra Real Nova"/>
                  <a:ea typeface="Ibarra Real Nova"/>
                  <a:cs typeface="Ibarra Real Nova"/>
                  <a:sym typeface="Ibarra Real Nova"/>
                </a:rPr>
                <a:t>Average revenue still fell from $16.1M TO $12.7M 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68671" y="1028700"/>
            <a:ext cx="16700062" cy="6524032"/>
            <a:chOff x="0" y="0"/>
            <a:chExt cx="22266749" cy="869871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0" t="1621" r="0" b="1621"/>
            <a:stretch>
              <a:fillRect/>
            </a:stretch>
          </p:blipFill>
          <p:spPr>
            <a:xfrm flipH="false" flipV="false">
              <a:off x="0" y="0"/>
              <a:ext cx="22266749" cy="8698710"/>
            </a:xfrm>
            <a:prstGeom prst="rect">
              <a:avLst/>
            </a:prstGeom>
          </p:spPr>
        </p:pic>
      </p:grpSp>
      <p:sp>
        <p:nvSpPr>
          <p:cNvPr name="AutoShape 4" id="4"/>
          <p:cNvSpPr/>
          <p:nvPr/>
        </p:nvSpPr>
        <p:spPr>
          <a:xfrm rot="0">
            <a:off x="11797692" y="4771346"/>
            <a:ext cx="1780658" cy="0"/>
          </a:xfrm>
          <a:prstGeom prst="line">
            <a:avLst/>
          </a:prstGeom>
          <a:ln cap="flat" w="9525">
            <a:solidFill>
              <a:srgbClr val="F6F3E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1739633" y="-245955"/>
            <a:ext cx="14583205" cy="28101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09"/>
              </a:lnSpc>
            </a:pPr>
            <a:r>
              <a:rPr lang="en-US" sz="5506" b="true">
                <a:solidFill>
                  <a:srgbClr val="77390F"/>
                </a:solidFill>
                <a:latin typeface="Ibarra Real Nova Bold"/>
                <a:ea typeface="Ibarra Real Nova Bold"/>
                <a:cs typeface="Ibarra Real Nova Bold"/>
                <a:sym typeface="Ibarra Real Nova Bold"/>
              </a:rPr>
              <a:t> COVID-19 Accelerated an Existing Collapse</a:t>
            </a:r>
          </a:p>
          <a:p>
            <a:pPr algn="ctr">
              <a:lnSpc>
                <a:spcPts val="15356"/>
              </a:lnSpc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-940767" y="7552732"/>
            <a:ext cx="19228767" cy="2906210"/>
          </a:xfrm>
          <a:custGeom>
            <a:avLst/>
            <a:gdLst/>
            <a:ahLst/>
            <a:cxnLst/>
            <a:rect r="r" b="b" t="t" l="l"/>
            <a:pathLst>
              <a:path h="2906210" w="19228767">
                <a:moveTo>
                  <a:pt x="0" y="0"/>
                </a:moveTo>
                <a:lnTo>
                  <a:pt x="19228767" y="0"/>
                </a:lnTo>
                <a:lnTo>
                  <a:pt x="19228767" y="2906210"/>
                </a:lnTo>
                <a:lnTo>
                  <a:pt x="0" y="29062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609" t="-131570" r="0" b="-217906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68671" y="7625341"/>
            <a:ext cx="4123968" cy="2454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true">
                <a:solidFill>
                  <a:srgbClr val="FFFFFF"/>
                </a:solidFill>
                <a:latin typeface="Ibarra Real Nova Bold"/>
                <a:ea typeface="Ibarra Real Nova Bold"/>
                <a:cs typeface="Ibarra Real Nova Bold"/>
                <a:sym typeface="Ibarra Real Nova Bold"/>
              </a:rPr>
              <a:t>Net sales fell from</a:t>
            </a:r>
          </a:p>
          <a:p>
            <a:pPr algn="ctr">
              <a:lnSpc>
                <a:spcPts val="4900"/>
              </a:lnSpc>
            </a:pPr>
            <a:r>
              <a:rPr lang="en-US" sz="3500" b="true">
                <a:solidFill>
                  <a:srgbClr val="FFFFFF"/>
                </a:solidFill>
                <a:latin typeface="Ibarra Real Nova Bold"/>
                <a:ea typeface="Ibarra Real Nova Bold"/>
                <a:cs typeface="Ibarra Real Nova Bold"/>
                <a:sym typeface="Ibarra Real Nova Bold"/>
              </a:rPr>
              <a:t> $2,439M IN </a:t>
            </a:r>
          </a:p>
          <a:p>
            <a:pPr algn="ctr">
              <a:lnSpc>
                <a:spcPts val="4900"/>
              </a:lnSpc>
            </a:pPr>
            <a:r>
              <a:rPr lang="en-US" sz="3500" b="true">
                <a:solidFill>
                  <a:srgbClr val="FFFFFF"/>
                </a:solidFill>
                <a:latin typeface="Ibarra Real Nova Bold"/>
                <a:ea typeface="Ibarra Real Nova Bold"/>
                <a:cs typeface="Ibarra Real Nova Bold"/>
                <a:sym typeface="Ibarra Real Nova Bold"/>
              </a:rPr>
              <a:t>Q1 2019 to</a:t>
            </a:r>
          </a:p>
          <a:p>
            <a:pPr algn="ctr">
              <a:lnSpc>
                <a:spcPts val="4900"/>
              </a:lnSpc>
            </a:pPr>
            <a:r>
              <a:rPr lang="en-US" sz="3500" b="true">
                <a:solidFill>
                  <a:srgbClr val="FFFFFF"/>
                </a:solidFill>
                <a:latin typeface="Ibarra Real Nova Bold"/>
                <a:ea typeface="Ibarra Real Nova Bold"/>
                <a:cs typeface="Ibarra Real Nova Bold"/>
                <a:sym typeface="Ibarra Real Nova Bold"/>
              </a:rPr>
              <a:t> $1,082M in Q1 2020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631263" y="7625341"/>
            <a:ext cx="5513904" cy="2454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true">
                <a:solidFill>
                  <a:srgbClr val="FFFFFF"/>
                </a:solidFill>
                <a:latin typeface="Ibarra Real Nova Bold"/>
                <a:ea typeface="Ibarra Real Nova Bold"/>
                <a:cs typeface="Ibarra Real Nova Bold"/>
                <a:sym typeface="Ibarra Real Nova Bold"/>
              </a:rPr>
              <a:t>COGS went</a:t>
            </a:r>
          </a:p>
          <a:p>
            <a:pPr algn="ctr">
              <a:lnSpc>
                <a:spcPts val="4900"/>
              </a:lnSpc>
            </a:pPr>
            <a:r>
              <a:rPr lang="en-US" sz="3500" b="true">
                <a:solidFill>
                  <a:srgbClr val="FFFFFF"/>
                </a:solidFill>
                <a:latin typeface="Ibarra Real Nova Bold"/>
                <a:ea typeface="Ibarra Real Nova Bold"/>
                <a:cs typeface="Ibarra Real Nova Bold"/>
                <a:sym typeface="Ibarra Real Nova Bold"/>
              </a:rPr>
              <a:t> from 67% to 75% of sales</a:t>
            </a:r>
          </a:p>
          <a:p>
            <a:pPr algn="ctr">
              <a:lnSpc>
                <a:spcPts val="4900"/>
              </a:lnSpc>
            </a:pPr>
            <a:r>
              <a:rPr lang="en-US" sz="3500" b="true">
                <a:solidFill>
                  <a:srgbClr val="FFFFFF"/>
                </a:solidFill>
                <a:latin typeface="Ibarra Real Nova Bold"/>
                <a:ea typeface="Ibarra Real Nova Bold"/>
                <a:cs typeface="Ibarra Real Nova Bold"/>
                <a:sym typeface="Ibarra Real Nova Bold"/>
              </a:rPr>
              <a:t> whereas SG&amp;A went</a:t>
            </a:r>
          </a:p>
          <a:p>
            <a:pPr algn="ctr">
              <a:lnSpc>
                <a:spcPts val="4900"/>
              </a:lnSpc>
            </a:pPr>
            <a:r>
              <a:rPr lang="en-US" sz="3500" b="true">
                <a:solidFill>
                  <a:srgbClr val="FFFFFF"/>
                </a:solidFill>
                <a:latin typeface="Ibarra Real Nova Bold"/>
                <a:ea typeface="Ibarra Real Nova Bold"/>
                <a:cs typeface="Ibarra Real Nova Bold"/>
                <a:sym typeface="Ibarra Real Nova Bold"/>
              </a:rPr>
              <a:t> from 35.1% to 52.9% of sales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147248" y="7776738"/>
            <a:ext cx="6140752" cy="2302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9"/>
              </a:lnSpc>
            </a:pPr>
            <a:r>
              <a:rPr lang="en-US" sz="3435" b="true">
                <a:solidFill>
                  <a:srgbClr val="FFFFFF"/>
                </a:solidFill>
                <a:latin typeface="Ibarra Real Nova Bold"/>
                <a:ea typeface="Ibarra Real Nova Bold"/>
                <a:cs typeface="Ibarra Real Nova Bold"/>
                <a:sym typeface="Ibarra Real Nova Bold"/>
              </a:rPr>
              <a:t>COVID-19 was the</a:t>
            </a:r>
          </a:p>
          <a:p>
            <a:pPr algn="ctr">
              <a:lnSpc>
                <a:spcPts val="4809"/>
              </a:lnSpc>
            </a:pPr>
            <a:r>
              <a:rPr lang="en-US" sz="3435" b="true">
                <a:solidFill>
                  <a:srgbClr val="FFFFFF"/>
                </a:solidFill>
                <a:latin typeface="Ibarra Real Nova Bold"/>
                <a:ea typeface="Ibarra Real Nova Bold"/>
                <a:cs typeface="Ibarra Real Nova Bold"/>
                <a:sym typeface="Ibarra Real Nova Bold"/>
              </a:rPr>
              <a:t> final shock, not  the</a:t>
            </a:r>
          </a:p>
          <a:p>
            <a:pPr algn="ctr">
              <a:lnSpc>
                <a:spcPts val="4809"/>
              </a:lnSpc>
            </a:pPr>
            <a:r>
              <a:rPr lang="en-US" sz="3435" b="true">
                <a:solidFill>
                  <a:srgbClr val="FFFFFF"/>
                </a:solidFill>
                <a:latin typeface="Ibarra Real Nova Bold"/>
                <a:ea typeface="Ibarra Real Nova Bold"/>
                <a:cs typeface="Ibarra Real Nova Bold"/>
                <a:sym typeface="Ibarra Real Nova Bold"/>
              </a:rPr>
              <a:t> main cause for bankruptcy</a:t>
            </a:r>
          </a:p>
          <a:p>
            <a:pPr algn="ctr">
              <a:lnSpc>
                <a:spcPts val="3829"/>
              </a:lnSpc>
            </a:pP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6274284" y="7552732"/>
            <a:ext cx="6060629" cy="2772214"/>
          </a:xfrm>
          <a:custGeom>
            <a:avLst/>
            <a:gdLst/>
            <a:ahLst/>
            <a:cxnLst/>
            <a:rect r="r" b="b" t="t" l="l"/>
            <a:pathLst>
              <a:path h="2772214" w="6060629">
                <a:moveTo>
                  <a:pt x="0" y="0"/>
                </a:moveTo>
                <a:lnTo>
                  <a:pt x="6060628" y="0"/>
                </a:lnTo>
                <a:lnTo>
                  <a:pt x="6060628" y="2772214"/>
                </a:lnTo>
                <a:lnTo>
                  <a:pt x="0" y="27722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9536" t="-7564" r="0" b="-57412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6274284" y="7625341"/>
            <a:ext cx="5513904" cy="2454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true">
                <a:solidFill>
                  <a:srgbClr val="77390F"/>
                </a:solidFill>
                <a:latin typeface="Ibarra Real Nova Bold"/>
                <a:ea typeface="Ibarra Real Nova Bold"/>
                <a:cs typeface="Ibarra Real Nova Bold"/>
                <a:sym typeface="Ibarra Real Nova Bold"/>
              </a:rPr>
              <a:t>COGS went</a:t>
            </a:r>
          </a:p>
          <a:p>
            <a:pPr algn="ctr">
              <a:lnSpc>
                <a:spcPts val="4900"/>
              </a:lnSpc>
            </a:pPr>
            <a:r>
              <a:rPr lang="en-US" sz="3500" b="true">
                <a:solidFill>
                  <a:srgbClr val="77390F"/>
                </a:solidFill>
                <a:latin typeface="Ibarra Real Nova Bold"/>
                <a:ea typeface="Ibarra Real Nova Bold"/>
                <a:cs typeface="Ibarra Real Nova Bold"/>
                <a:sym typeface="Ibarra Real Nova Bold"/>
              </a:rPr>
              <a:t> from 67% to 75% of sales</a:t>
            </a:r>
          </a:p>
          <a:p>
            <a:pPr algn="ctr">
              <a:lnSpc>
                <a:spcPts val="4900"/>
              </a:lnSpc>
            </a:pPr>
            <a:r>
              <a:rPr lang="en-US" sz="3500" b="true">
                <a:solidFill>
                  <a:srgbClr val="77390F"/>
                </a:solidFill>
                <a:latin typeface="Ibarra Real Nova Bold"/>
                <a:ea typeface="Ibarra Real Nova Bold"/>
                <a:cs typeface="Ibarra Real Nova Bold"/>
                <a:sym typeface="Ibarra Real Nova Bold"/>
              </a:rPr>
              <a:t> whereas SG&amp;A went</a:t>
            </a:r>
          </a:p>
          <a:p>
            <a:pPr algn="ctr">
              <a:lnSpc>
                <a:spcPts val="4900"/>
              </a:lnSpc>
            </a:pPr>
            <a:r>
              <a:rPr lang="en-US" sz="3500" b="true">
                <a:solidFill>
                  <a:srgbClr val="77390F"/>
                </a:solidFill>
                <a:latin typeface="Ibarra Real Nova Bold"/>
                <a:ea typeface="Ibarra Real Nova Bold"/>
                <a:cs typeface="Ibarra Real Nova Bold"/>
                <a:sym typeface="Ibarra Real Nova Bold"/>
              </a:rPr>
              <a:t> from 35.1% to 52.9% of sales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60119" y="-835525"/>
            <a:ext cx="22149670" cy="12086944"/>
            <a:chOff x="0" y="0"/>
            <a:chExt cx="29532893" cy="161159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9888641" y="1114034"/>
              <a:ext cx="8696853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8696853">
                  <a:moveTo>
                    <a:pt x="0" y="0"/>
                  </a:moveTo>
                  <a:lnTo>
                    <a:pt x="8696852" y="0"/>
                  </a:lnTo>
                  <a:lnTo>
                    <a:pt x="869685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74903" t="-4805" r="-86925" b="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 rot="0">
              <a:off x="11201208" y="4464447"/>
              <a:ext cx="6250467" cy="93093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160"/>
                </a:lnSpc>
              </a:pPr>
              <a:r>
                <a:rPr lang="en-US" sz="4400" b="true">
                  <a:solidFill>
                    <a:srgbClr val="77390F"/>
                  </a:solidFill>
                  <a:latin typeface="Ibarra Real Nova Bold"/>
                  <a:ea typeface="Ibarra Real Nova Bold"/>
                  <a:cs typeface="Ibarra Real Nova Bold"/>
                  <a:sym typeface="Ibarra Real Nova Bold"/>
                </a:rPr>
                <a:t>2. Store Closure Misdiagnosis</a:t>
              </a:r>
            </a:p>
            <a:p>
              <a:pPr algn="ctr">
                <a:lnSpc>
                  <a:spcPts val="6160"/>
                </a:lnSpc>
              </a:pPr>
            </a:p>
            <a:p>
              <a:pPr algn="ctr">
                <a:lnSpc>
                  <a:spcPts val="6160"/>
                </a:lnSpc>
              </a:pPr>
            </a:p>
            <a:p>
              <a:pPr algn="ctr">
                <a:lnSpc>
                  <a:spcPts val="6160"/>
                </a:lnSpc>
                <a:spcBef>
                  <a:spcPct val="0"/>
                </a:spcBef>
              </a:pPr>
              <a:r>
                <a:rPr lang="en-US" b="true" sz="4400">
                  <a:solidFill>
                    <a:srgbClr val="77390F"/>
                  </a:solidFill>
                  <a:latin typeface="Ibarra Real Nova Bold"/>
                  <a:ea typeface="Ibarra Real Nova Bold"/>
                  <a:cs typeface="Ibarra Real Nova Bold"/>
                  <a:sym typeface="Ibarra Real Nova Bold"/>
                </a:rPr>
                <a:t> 260 Stores were closed, but the remaining stores did not become more productive.</a:t>
              </a:r>
            </a:p>
          </p:txBody>
        </p:sp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047298" cy="15001891"/>
            </a:xfrm>
            <a:custGeom>
              <a:avLst/>
              <a:gdLst/>
              <a:ahLst/>
              <a:cxnLst/>
              <a:rect r="r" b="b" t="t" l="l"/>
              <a:pathLst>
                <a:path h="15001891" w="10047298">
                  <a:moveTo>
                    <a:pt x="0" y="0"/>
                  </a:moveTo>
                  <a:lnTo>
                    <a:pt x="10047298" y="0"/>
                  </a:lnTo>
                  <a:lnTo>
                    <a:pt x="10047298" y="15001891"/>
                  </a:lnTo>
                  <a:lnTo>
                    <a:pt x="0" y="150018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0050" t="0" r="-29262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 rot="0">
              <a:off x="2099889" y="4464447"/>
              <a:ext cx="6762234" cy="93093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160"/>
                </a:lnSpc>
              </a:pPr>
              <a:r>
                <a:rPr lang="en-US" b="true" sz="4400">
                  <a:solidFill>
                    <a:srgbClr val="FFFFFF"/>
                  </a:solidFill>
                  <a:latin typeface="Ibarra Real Nova Bold"/>
                  <a:ea typeface="Ibarra Real Nova Bold"/>
                  <a:cs typeface="Ibarra Real Nova Bold"/>
                  <a:sym typeface="Ibarra Real Nova Bold"/>
                </a:rPr>
                <a:t>1. Pricing Strategy Failure</a:t>
              </a:r>
            </a:p>
            <a:p>
              <a:pPr algn="ctr">
                <a:lnSpc>
                  <a:spcPts val="6160"/>
                </a:lnSpc>
              </a:pPr>
            </a:p>
            <a:p>
              <a:pPr algn="ctr">
                <a:lnSpc>
                  <a:spcPts val="6160"/>
                </a:lnSpc>
              </a:pPr>
            </a:p>
            <a:p>
              <a:pPr algn="ctr">
                <a:lnSpc>
                  <a:spcPts val="6160"/>
                </a:lnSpc>
                <a:spcBef>
                  <a:spcPct val="0"/>
                </a:spcBef>
              </a:pPr>
              <a:r>
                <a:rPr lang="en-US" b="true" sz="4400">
                  <a:solidFill>
                    <a:srgbClr val="FFFFFF"/>
                  </a:solidFill>
                  <a:latin typeface="Ibarra Real Nova Bold"/>
                  <a:ea typeface="Ibarra Real Nova Bold"/>
                  <a:cs typeface="Ibarra Real Nova Bold"/>
                  <a:sym typeface="Ibarra Real Nova Bold"/>
                </a:rPr>
                <a:t> FY2012 sales declined, indicating customer rejection, but the response was too slow.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1410339" y="942584"/>
              <a:ext cx="8141335" cy="20315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880"/>
                </a:lnSpc>
              </a:pPr>
              <a:r>
                <a:rPr lang="en-US" sz="9200" b="true">
                  <a:solidFill>
                    <a:srgbClr val="FFFFFF"/>
                  </a:solidFill>
                  <a:latin typeface="Ibarra Real Nova Bold"/>
                  <a:ea typeface="Ibarra Real Nova Bold"/>
                  <a:cs typeface="Ibarra Real Nova Bold"/>
                  <a:sym typeface="Ibarra Real Nova Bold"/>
                </a:rPr>
                <a:t>DECISION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10607788" y="942584"/>
              <a:ext cx="7258558" cy="20315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880"/>
                </a:lnSpc>
              </a:pPr>
              <a:r>
                <a:rPr lang="en-US" sz="9200" b="true">
                  <a:solidFill>
                    <a:srgbClr val="77390F"/>
                  </a:solidFill>
                  <a:latin typeface="Ibarra Real Nova Bold"/>
                  <a:ea typeface="Ibarra Real Nova Bold"/>
                  <a:cs typeface="Ibarra Real Nova Bold"/>
                  <a:sym typeface="Ibarra Real Nova Bold"/>
                </a:rPr>
                <a:t>MAKING</a:t>
              </a:r>
            </a:p>
          </p:txBody>
        </p:sp>
        <p:sp>
          <p:nvSpPr>
            <p:cNvPr name="Freeform 9" id="9"/>
            <p:cNvSpPr/>
            <p:nvPr/>
          </p:nvSpPr>
          <p:spPr>
            <a:xfrm flipH="false" flipV="false" rot="0">
              <a:off x="18560093" y="1114034"/>
              <a:ext cx="10972800" cy="15001891"/>
            </a:xfrm>
            <a:custGeom>
              <a:avLst/>
              <a:gdLst/>
              <a:ahLst/>
              <a:cxnLst/>
              <a:rect r="r" b="b" t="t" l="l"/>
              <a:pathLst>
                <a:path h="15001891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5001891"/>
                  </a:lnTo>
                  <a:lnTo>
                    <a:pt x="0" y="150018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8359" t="0" r="-18359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 rot="0">
              <a:off x="18585493" y="4438161"/>
              <a:ext cx="6762234" cy="82679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160"/>
                </a:lnSpc>
              </a:pPr>
              <a:r>
                <a:rPr lang="en-US" sz="4400" b="true">
                  <a:solidFill>
                    <a:srgbClr val="FFFFFF"/>
                  </a:solidFill>
                  <a:latin typeface="Ibarra Real Nova Bold"/>
                  <a:ea typeface="Ibarra Real Nova Bold"/>
                  <a:cs typeface="Ibarra Real Nova Bold"/>
                  <a:sym typeface="Ibarra Real Nova Bold"/>
                </a:rPr>
                <a:t>3</a:t>
              </a:r>
              <a:r>
                <a:rPr lang="en-US" b="true" sz="4400">
                  <a:solidFill>
                    <a:srgbClr val="FFFFFF"/>
                  </a:solidFill>
                  <a:latin typeface="Ibarra Real Nova Bold"/>
                  <a:ea typeface="Ibarra Real Nova Bold"/>
                  <a:cs typeface="Ibarra Real Nova Bold"/>
                  <a:sym typeface="Ibarra Real Nova Bold"/>
                </a:rPr>
                <a:t>. Debt Warning Ignored</a:t>
              </a:r>
            </a:p>
            <a:p>
              <a:pPr algn="ctr">
                <a:lnSpc>
                  <a:spcPts val="6160"/>
                </a:lnSpc>
              </a:pPr>
            </a:p>
            <a:p>
              <a:pPr algn="ctr">
                <a:lnSpc>
                  <a:spcPts val="6160"/>
                </a:lnSpc>
              </a:pPr>
            </a:p>
            <a:p>
              <a:pPr algn="ctr">
                <a:lnSpc>
                  <a:spcPts val="6160"/>
                </a:lnSpc>
              </a:pPr>
            </a:p>
            <a:p>
              <a:pPr algn="ctr">
                <a:lnSpc>
                  <a:spcPts val="6160"/>
                </a:lnSpc>
                <a:spcBef>
                  <a:spcPct val="0"/>
                </a:spcBef>
              </a:pPr>
              <a:r>
                <a:rPr lang="en-US" b="true" sz="4400">
                  <a:solidFill>
                    <a:srgbClr val="FFFFFF"/>
                  </a:solidFill>
                  <a:latin typeface="Ibarra Real Nova Bold"/>
                  <a:ea typeface="Ibarra Real Nova Bold"/>
                  <a:cs typeface="Ibarra Real Nova Bold"/>
                  <a:sym typeface="Ibarra Real Nova Bold"/>
                </a:rPr>
                <a:t> Debt became riskier as revenue declined.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18524007" y="942584"/>
              <a:ext cx="7083108" cy="197823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460"/>
                </a:lnSpc>
              </a:pPr>
              <a:r>
                <a:rPr lang="en-US" sz="8900" b="true">
                  <a:solidFill>
                    <a:srgbClr val="FFFFFF"/>
                  </a:solidFill>
                  <a:latin typeface="Ibarra Real Nova Bold"/>
                  <a:ea typeface="Ibarra Real Nova Bold"/>
                  <a:cs typeface="Ibarra Real Nova Bold"/>
                  <a:sym typeface="Ibarra Real Nova Bold"/>
                </a:rPr>
                <a:t>FAILURE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99053" y="-1668938"/>
            <a:ext cx="19486105" cy="12749897"/>
            <a:chOff x="0" y="0"/>
            <a:chExt cx="25981474" cy="16999863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13388788" y="8616521"/>
              <a:ext cx="7904479" cy="7324729"/>
              <a:chOff x="0" y="0"/>
              <a:chExt cx="4202808" cy="3894555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202808" cy="3894555"/>
              </a:xfrm>
              <a:custGeom>
                <a:avLst/>
                <a:gdLst/>
                <a:ahLst/>
                <a:cxnLst/>
                <a:rect r="r" b="b" t="t" l="l"/>
                <a:pathLst>
                  <a:path h="3894555" w="4202808">
                    <a:moveTo>
                      <a:pt x="0" y="0"/>
                    </a:moveTo>
                    <a:lnTo>
                      <a:pt x="4202808" y="0"/>
                    </a:lnTo>
                    <a:lnTo>
                      <a:pt x="4202808" y="3894555"/>
                    </a:lnTo>
                    <a:lnTo>
                      <a:pt x="0" y="3894555"/>
                    </a:lnTo>
                    <a:close/>
                  </a:path>
                </a:pathLst>
              </a:custGeom>
              <a:solidFill>
                <a:srgbClr val="F6F3EE"/>
              </a:solidFill>
            </p:spPr>
          </p:sp>
        </p:grpSp>
        <p:sp>
          <p:nvSpPr>
            <p:cNvPr name="Freeform 5" id="5"/>
            <p:cNvSpPr/>
            <p:nvPr/>
          </p:nvSpPr>
          <p:spPr>
            <a:xfrm flipH="false" flipV="false" rot="0">
              <a:off x="0" y="9216886"/>
              <a:ext cx="25981474" cy="7782977"/>
            </a:xfrm>
            <a:custGeom>
              <a:avLst/>
              <a:gdLst/>
              <a:ahLst/>
              <a:cxnLst/>
              <a:rect r="r" b="b" t="t" l="l"/>
              <a:pathLst>
                <a:path h="7782977" w="25981474">
                  <a:moveTo>
                    <a:pt x="0" y="0"/>
                  </a:moveTo>
                  <a:lnTo>
                    <a:pt x="25981474" y="0"/>
                  </a:lnTo>
                  <a:lnTo>
                    <a:pt x="25981474" y="7782977"/>
                  </a:lnTo>
                  <a:lnTo>
                    <a:pt x="0" y="7782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9272" t="-31135" r="0" b="-300408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481422" y="1930613"/>
              <a:ext cx="25018630" cy="7286273"/>
            </a:xfrm>
            <a:custGeom>
              <a:avLst/>
              <a:gdLst/>
              <a:ahLst/>
              <a:cxnLst/>
              <a:rect r="r" b="b" t="t" l="l"/>
              <a:pathLst>
                <a:path h="7286273" w="25018630">
                  <a:moveTo>
                    <a:pt x="0" y="0"/>
                  </a:moveTo>
                  <a:lnTo>
                    <a:pt x="25018630" y="0"/>
                  </a:lnTo>
                  <a:lnTo>
                    <a:pt x="25018630" y="7286273"/>
                  </a:lnTo>
                  <a:lnTo>
                    <a:pt x="0" y="7286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43170" t="-15631" r="-14093" b="-225262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1453901" y="4844968"/>
              <a:ext cx="4982909" cy="2834030"/>
            </a:xfrm>
            <a:custGeom>
              <a:avLst/>
              <a:gdLst/>
              <a:ahLst/>
              <a:cxnLst/>
              <a:rect r="r" b="b" t="t" l="l"/>
              <a:pathLst>
                <a:path h="2834030" w="4982909">
                  <a:moveTo>
                    <a:pt x="0" y="0"/>
                  </a:moveTo>
                  <a:lnTo>
                    <a:pt x="4982909" y="0"/>
                  </a:lnTo>
                  <a:lnTo>
                    <a:pt x="4982909" y="2834029"/>
                  </a:lnTo>
                  <a:lnTo>
                    <a:pt x="0" y="28340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 rot="0">
              <a:off x="5817898" y="-219075"/>
              <a:ext cx="14345678" cy="40803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979"/>
                </a:lnSpc>
              </a:pPr>
            </a:p>
            <a:p>
              <a:pPr algn="ctr">
                <a:lnSpc>
                  <a:spcPts val="8684"/>
                </a:lnSpc>
              </a:pPr>
              <a:r>
                <a:rPr lang="en-US" sz="6203" b="true">
                  <a:solidFill>
                    <a:srgbClr val="77390F"/>
                  </a:solidFill>
                  <a:latin typeface="Ibarra Real Nova Bold"/>
                  <a:ea typeface="Ibarra Real Nova Bold"/>
                  <a:cs typeface="Ibarra Real Nova Bold"/>
                  <a:sym typeface="Ibarra Real Nova Bold"/>
                </a:rPr>
                <a:t>Data-Driven Recommendations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1570030" y="5516600"/>
              <a:ext cx="4750652" cy="13533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168"/>
                </a:lnSpc>
              </a:pPr>
              <a:r>
                <a:rPr lang="en-US" sz="2977" b="true">
                  <a:solidFill>
                    <a:srgbClr val="77390F"/>
                  </a:solidFill>
                  <a:latin typeface="Ibarra Real Nova Bold"/>
                  <a:ea typeface="Ibarra Real Nova Bold"/>
                  <a:cs typeface="Ibarra Real Nova Bold"/>
                  <a:sym typeface="Ibarra Real Nova Bold"/>
                </a:rPr>
                <a:t>1. Reverse failing strategies early</a:t>
              </a:r>
            </a:p>
          </p:txBody>
        </p:sp>
        <p:sp>
          <p:nvSpPr>
            <p:cNvPr name="Freeform 10" id="10"/>
            <p:cNvSpPr/>
            <p:nvPr/>
          </p:nvSpPr>
          <p:spPr>
            <a:xfrm flipH="false" flipV="false" rot="0">
              <a:off x="7314869" y="4868003"/>
              <a:ext cx="4982909" cy="2834030"/>
            </a:xfrm>
            <a:custGeom>
              <a:avLst/>
              <a:gdLst/>
              <a:ahLst/>
              <a:cxnLst/>
              <a:rect r="r" b="b" t="t" l="l"/>
              <a:pathLst>
                <a:path h="2834030" w="4982909">
                  <a:moveTo>
                    <a:pt x="0" y="0"/>
                  </a:moveTo>
                  <a:lnTo>
                    <a:pt x="4982909" y="0"/>
                  </a:lnTo>
                  <a:lnTo>
                    <a:pt x="4982909" y="2834030"/>
                  </a:lnTo>
                  <a:lnTo>
                    <a:pt x="0" y="28340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3288378" y="4844968"/>
              <a:ext cx="4982909" cy="2834030"/>
            </a:xfrm>
            <a:custGeom>
              <a:avLst/>
              <a:gdLst/>
              <a:ahLst/>
              <a:cxnLst/>
              <a:rect r="r" b="b" t="t" l="l"/>
              <a:pathLst>
                <a:path h="2834030" w="4982909">
                  <a:moveTo>
                    <a:pt x="0" y="0"/>
                  </a:moveTo>
                  <a:lnTo>
                    <a:pt x="4982910" y="0"/>
                  </a:lnTo>
                  <a:lnTo>
                    <a:pt x="4982910" y="2834029"/>
                  </a:lnTo>
                  <a:lnTo>
                    <a:pt x="0" y="28340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9727365" y="4868003"/>
              <a:ext cx="4982909" cy="2834030"/>
            </a:xfrm>
            <a:custGeom>
              <a:avLst/>
              <a:gdLst/>
              <a:ahLst/>
              <a:cxnLst/>
              <a:rect r="r" b="b" t="t" l="l"/>
              <a:pathLst>
                <a:path h="2834030" w="4982909">
                  <a:moveTo>
                    <a:pt x="0" y="0"/>
                  </a:moveTo>
                  <a:lnTo>
                    <a:pt x="4982910" y="0"/>
                  </a:lnTo>
                  <a:lnTo>
                    <a:pt x="4982910" y="2834030"/>
                  </a:lnTo>
                  <a:lnTo>
                    <a:pt x="0" y="28340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 rot="0">
              <a:off x="7576337" y="5107079"/>
              <a:ext cx="4459974" cy="22431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528"/>
                </a:lnSpc>
                <a:spcBef>
                  <a:spcPct val="0"/>
                </a:spcBef>
              </a:pPr>
              <a:r>
                <a:rPr lang="en-US" b="true" sz="3234">
                  <a:solidFill>
                    <a:srgbClr val="77390F"/>
                  </a:solidFill>
                  <a:latin typeface="Ibarra Real Nova Bold"/>
                  <a:ea typeface="Ibarra Real Nova Bold"/>
                  <a:cs typeface="Ibarra Real Nova Bold"/>
                  <a:sym typeface="Ibarra Real Nova Bold"/>
                </a:rPr>
                <a:t>2. Track store productivity, not only store closures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13175837" y="5482441"/>
              <a:ext cx="4982909" cy="13874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77390F"/>
                  </a:solidFill>
                  <a:latin typeface="Ibarra Real Nova Bold"/>
                  <a:ea typeface="Ibarra Real Nova Bold"/>
                  <a:cs typeface="Ibarra Real Nova Bold"/>
                  <a:sym typeface="Ibarra Real Nova Bold"/>
                </a:rPr>
                <a:t>3. Invest earlier in digital channels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20287864" y="5482441"/>
              <a:ext cx="3861911" cy="13874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77390F"/>
                  </a:solidFill>
                  <a:latin typeface="Ibarra Real Nova Bold"/>
                  <a:ea typeface="Ibarra Real Nova Bold"/>
                  <a:cs typeface="Ibarra Real Nova Bold"/>
                  <a:sym typeface="Ibarra Real Nova Bold"/>
                </a:rPr>
                <a:t>4. Monitor </a:t>
              </a:r>
            </a:p>
            <a:p>
              <a:pPr algn="ctr">
                <a:lnSpc>
                  <a:spcPts val="4200"/>
                </a:lnSpc>
                <a:spcBef>
                  <a:spcPct val="0"/>
                </a:spcBef>
              </a:pPr>
              <a:r>
                <a:rPr lang="en-US" b="true" sz="3000">
                  <a:solidFill>
                    <a:srgbClr val="77390F"/>
                  </a:solidFill>
                  <a:latin typeface="Ibarra Real Nova Bold"/>
                  <a:ea typeface="Ibarra Real Nova Bold"/>
                  <a:cs typeface="Ibarra Real Nova Bold"/>
                  <a:sym typeface="Ibarra Real Nova Bold"/>
                </a:rPr>
                <a:t>debt-to-sales ratio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2978954" y="9799627"/>
              <a:ext cx="19239866" cy="11932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503"/>
                </a:lnSpc>
                <a:spcBef>
                  <a:spcPct val="0"/>
                </a:spcBef>
              </a:pPr>
              <a:r>
                <a:rPr lang="en-US" b="true" sz="5359">
                  <a:solidFill>
                    <a:srgbClr val="FFFFFF"/>
                  </a:solidFill>
                  <a:latin typeface="Ibarra Real Nova Bold"/>
                  <a:ea typeface="Ibarra Real Nova Bold"/>
                  <a:cs typeface="Ibarra Real Nova Bold"/>
                  <a:sym typeface="Ibarra Real Nova Bold"/>
                </a:rPr>
                <a:t>Conclusion: JCPenney’s Failure Was Predictable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798737" y="12105594"/>
              <a:ext cx="24126591" cy="24246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900"/>
                </a:lnSpc>
                <a:spcBef>
                  <a:spcPct val="0"/>
                </a:spcBef>
              </a:pPr>
              <a:r>
                <a:rPr lang="en-US" sz="3500">
                  <a:solidFill>
                    <a:srgbClr val="FFFFFF"/>
                  </a:solidFill>
                  <a:latin typeface="Ibarra Real Nova"/>
                  <a:ea typeface="Ibarra Real Nova"/>
                  <a:cs typeface="Ibarra Real Nova"/>
                  <a:sym typeface="Ibarra Real Nova"/>
                </a:rPr>
                <a:t>JCPenney did not fail because of one scenario. It failed because of poor pricing decisions &amp; store productivity; the digital response and financial pressure were ignored for years. COVID-19 only accelerated the collapse.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37986" y="-220977"/>
            <a:ext cx="18763972" cy="11275534"/>
          </a:xfrm>
          <a:custGeom>
            <a:avLst/>
            <a:gdLst/>
            <a:ahLst/>
            <a:cxnLst/>
            <a:rect r="r" b="b" t="t" l="l"/>
            <a:pathLst>
              <a:path h="11275534" w="18763972">
                <a:moveTo>
                  <a:pt x="0" y="0"/>
                </a:moveTo>
                <a:lnTo>
                  <a:pt x="18763972" y="0"/>
                </a:lnTo>
                <a:lnTo>
                  <a:pt x="18763972" y="11275534"/>
                </a:lnTo>
                <a:lnTo>
                  <a:pt x="0" y="112755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3170" t="-7575" r="-14093" b="-5763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019437" y="3934265"/>
            <a:ext cx="8249126" cy="17081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99"/>
              </a:lnSpc>
              <a:spcBef>
                <a:spcPct val="0"/>
              </a:spcBef>
            </a:pPr>
            <a:r>
              <a:rPr lang="en-US" b="true" sz="9999">
                <a:solidFill>
                  <a:srgbClr val="77390F"/>
                </a:solidFill>
                <a:latin typeface="Ibarra Real Nova Bold"/>
                <a:ea typeface="Ibarra Real Nova Bold"/>
                <a:cs typeface="Ibarra Real Nova Bold"/>
                <a:sym typeface="Ibarra Real Nova Bold"/>
              </a:rPr>
              <a:t>THAN KYOU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DAHId76Tx50</dc:identifier>
  <dcterms:modified xsi:type="dcterms:W3CDTF">2011-08-01T06:04:30Z</dcterms:modified>
  <cp:revision>1</cp:revision>
  <dc:title>Analysis OF JCPenney</dc:title>
</cp:coreProperties>
</file>